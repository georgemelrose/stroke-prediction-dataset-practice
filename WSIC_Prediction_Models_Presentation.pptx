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7" r:id="rId2"/>
    <p:sldId id="272" r:id="rId3"/>
    <p:sldId id="273" r:id="rId4"/>
    <p:sldId id="276" r:id="rId5"/>
    <p:sldId id="270" r:id="rId6"/>
    <p:sldId id="275" r:id="rId7"/>
    <p:sldId id="277" r:id="rId8"/>
    <p:sldId id="279" r:id="rId9"/>
    <p:sldId id="281" r:id="rId10"/>
    <p:sldId id="283" r:id="rId11"/>
    <p:sldId id="284" r:id="rId12"/>
    <p:sldId id="285" r:id="rId13"/>
    <p:sldId id="286" r:id="rId14"/>
    <p:sldId id="287" r:id="rId15"/>
    <p:sldId id="288" r:id="rId16"/>
    <p:sldId id="289" r:id="rId17"/>
    <p:sldId id="290" r:id="rId18"/>
    <p:sldId id="292" r:id="rId19"/>
    <p:sldId id="280" r:id="rId20"/>
    <p:sldId id="293" r:id="rId21"/>
    <p:sldId id="294"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56356" autoAdjust="0"/>
  </p:normalViewPr>
  <p:slideViewPr>
    <p:cSldViewPr snapToGrid="0">
      <p:cViewPr varScale="1">
        <p:scale>
          <a:sx n="60" d="100"/>
          <a:sy n="60" d="100"/>
        </p:scale>
        <p:origin x="72"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5897A-FCB6-4FCD-8089-170C5EEE69A0}" type="datetimeFigureOut">
              <a:rPr lang="en-GB" smtClean="0"/>
              <a:t>07/10/2025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0C99DB-D8EF-480B-A2C0-626F41599461}" type="slidenum">
              <a:rPr lang="en-GB" smtClean="0"/>
              <a:t>‹#›</a:t>
            </a:fld>
            <a:endParaRPr lang="en-GB"/>
          </a:p>
        </p:txBody>
      </p:sp>
    </p:spTree>
    <p:extLst>
      <p:ext uri="{BB962C8B-B14F-4D97-AF65-F5344CB8AC3E}">
        <p14:creationId xmlns:p14="http://schemas.microsoft.com/office/powerpoint/2010/main" val="95335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pubmed.ncbi.nlm.nih.gov/39536394/#full-view-affiliation-3" TargetMode="External"/><Relationship Id="rId13" Type="http://schemas.openxmlformats.org/officeDocument/2006/relationships/hyperlink" Target="https://pubmed.ncbi.nlm.nih.gov/39536394/#full-view-affiliation-5" TargetMode="External"/><Relationship Id="rId3" Type="http://schemas.openxmlformats.org/officeDocument/2006/relationships/hyperlink" Target="https://pubmed.ncbi.nlm.nih.gov/?term=Wang+L&amp;cauthor_id=39536394" TargetMode="External"/><Relationship Id="rId7" Type="http://schemas.openxmlformats.org/officeDocument/2006/relationships/hyperlink" Target="https://pubmed.ncbi.nlm.nih.gov/?term=Glampson+B&amp;cauthor_id=39536394" TargetMode="External"/><Relationship Id="rId12" Type="http://schemas.openxmlformats.org/officeDocument/2006/relationships/hyperlink" Target="https://pubmed.ncbi.nlm.nih.gov/?term=Delaney+BC&amp;cauthor_id=39536394"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pubmed.ncbi.nlm.nih.gov/39536394/#full-view-affiliation-2" TargetMode="External"/><Relationship Id="rId11" Type="http://schemas.openxmlformats.org/officeDocument/2006/relationships/hyperlink" Target="https://pubmed.ncbi.nlm.nih.gov/?term=Barahona+M&amp;cauthor_id=39536394" TargetMode="External"/><Relationship Id="rId5" Type="http://schemas.openxmlformats.org/officeDocument/2006/relationships/hyperlink" Target="https://pubmed.ncbi.nlm.nih.gov/?term=Yin+Y&amp;cauthor_id=39536394" TargetMode="External"/><Relationship Id="rId15" Type="http://schemas.openxmlformats.org/officeDocument/2006/relationships/hyperlink" Target="https://pubmed.ncbi.nlm.nih.gov/39536394/#full-view-affiliation-6" TargetMode="External"/><Relationship Id="rId10" Type="http://schemas.openxmlformats.org/officeDocument/2006/relationships/hyperlink" Target="https://pubmed.ncbi.nlm.nih.gov/39536394/#full-view-affiliation-4" TargetMode="External"/><Relationship Id="rId4" Type="http://schemas.openxmlformats.org/officeDocument/2006/relationships/hyperlink" Target="https://pubmed.ncbi.nlm.nih.gov/39536394/#full-view-affiliation-1" TargetMode="External"/><Relationship Id="rId9" Type="http://schemas.openxmlformats.org/officeDocument/2006/relationships/hyperlink" Target="https://pubmed.ncbi.nlm.nih.gov/?term=Peach+R&amp;cauthor_id=39536394" TargetMode="External"/><Relationship Id="rId14" Type="http://schemas.openxmlformats.org/officeDocument/2006/relationships/hyperlink" Target="https://pubmed.ncbi.nlm.nih.gov/?term=Mayer+EK&amp;cauthor_id=3953639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ibm.com/topics/machine-learning"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www.ibm.com/topics/supervised-learning" TargetMode="External"/><Relationship Id="rId4" Type="http://schemas.openxmlformats.org/officeDocument/2006/relationships/hyperlink" Target="https://www.ibm.com/topics/unsupervised-learning"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https://pubmed.ncbi.nlm.nih.gov/39536394/</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r>
              <a:rPr lang="en-GB" b="1" dirty="0"/>
              <a:t>Transformer-based deep learning model for the diagnosis of suspected lung cancer in primary care based on electronic health record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hlinkClick r:id="rId3"/>
              </a:rPr>
              <a:t>Lan Wang</a:t>
            </a:r>
            <a:r>
              <a:rPr lang="en-GB" baseline="30000" dirty="0"/>
              <a:t> </a:t>
            </a:r>
            <a:r>
              <a:rPr lang="en-GB" baseline="30000" dirty="0">
                <a:hlinkClick r:id="rId4" tooltip="Dept of Mathematics, Imperial College London, UK."/>
              </a:rPr>
              <a:t> 1 </a:t>
            </a:r>
            <a:r>
              <a:rPr lang="en-GB" dirty="0"/>
              <a:t>, </a:t>
            </a:r>
            <a:r>
              <a:rPr lang="en-GB" dirty="0">
                <a:hlinkClick r:id="rId5"/>
              </a:rPr>
              <a:t>Yonghua Yin</a:t>
            </a:r>
            <a:r>
              <a:rPr lang="en-GB" baseline="30000" dirty="0"/>
              <a:t> </a:t>
            </a:r>
            <a:r>
              <a:rPr lang="en-GB" baseline="30000" dirty="0">
                <a:hlinkClick r:id="rId6" tooltip="Dept of Electrical and Electronic Engineering, Imperial College London, UK."/>
              </a:rPr>
              <a:t> 2 </a:t>
            </a:r>
            <a:r>
              <a:rPr lang="en-GB" dirty="0"/>
              <a:t>, </a:t>
            </a:r>
            <a:r>
              <a:rPr lang="en-GB" dirty="0">
                <a:hlinkClick r:id="rId7"/>
              </a:rPr>
              <a:t>Ben </a:t>
            </a:r>
            <a:r>
              <a:rPr lang="en-GB" dirty="0" err="1">
                <a:hlinkClick r:id="rId7"/>
              </a:rPr>
              <a:t>Glampson</a:t>
            </a:r>
            <a:r>
              <a:rPr lang="en-GB" baseline="30000" dirty="0"/>
              <a:t> </a:t>
            </a:r>
            <a:r>
              <a:rPr lang="en-GB" baseline="30000" dirty="0">
                <a:hlinkClick r:id="rId8" tooltip="ICARE SDE, Imperial College Healthcare NHS Trust, London, UK."/>
              </a:rPr>
              <a:t> 3 </a:t>
            </a:r>
            <a:r>
              <a:rPr lang="en-GB" dirty="0"/>
              <a:t>, </a:t>
            </a:r>
            <a:r>
              <a:rPr lang="en-GB" dirty="0">
                <a:hlinkClick r:id="rId9"/>
              </a:rPr>
              <a:t>Robert Peach</a:t>
            </a:r>
            <a:r>
              <a:rPr lang="en-GB" baseline="30000" dirty="0"/>
              <a:t> </a:t>
            </a:r>
            <a:r>
              <a:rPr lang="en-GB" baseline="30000" dirty="0">
                <a:hlinkClick r:id="rId10" tooltip="Dept of Brain Sciences, Imperial College London, UK."/>
              </a:rPr>
              <a:t> 4 </a:t>
            </a:r>
            <a:r>
              <a:rPr lang="en-GB" dirty="0"/>
              <a:t>, </a:t>
            </a:r>
            <a:r>
              <a:rPr lang="en-GB" dirty="0">
                <a:hlinkClick r:id="rId11"/>
              </a:rPr>
              <a:t>Mauricio Barahona</a:t>
            </a:r>
            <a:r>
              <a:rPr lang="en-GB" baseline="30000" dirty="0"/>
              <a:t> </a:t>
            </a:r>
            <a:r>
              <a:rPr lang="en-GB" baseline="30000" dirty="0">
                <a:hlinkClick r:id="rId4" tooltip="Dept of Mathematics, Imperial College London, UK."/>
              </a:rPr>
              <a:t> 1 </a:t>
            </a:r>
            <a:r>
              <a:rPr lang="en-GB" dirty="0"/>
              <a:t>, </a:t>
            </a:r>
            <a:r>
              <a:rPr lang="en-GB" dirty="0">
                <a:hlinkClick r:id="rId12"/>
              </a:rPr>
              <a:t>Brendan C Delaney</a:t>
            </a:r>
            <a:r>
              <a:rPr lang="en-GB" baseline="30000" dirty="0"/>
              <a:t> </a:t>
            </a:r>
            <a:r>
              <a:rPr lang="en-GB" baseline="30000" dirty="0">
                <a:hlinkClick r:id="rId13" tooltip="IX, Imperial College London, UK; Dept of Surgery and Cancer, Imperial College London, UK. Electronic address: brendan.delaney@imperial.ac.uk."/>
              </a:rPr>
              <a:t> 5 </a:t>
            </a:r>
            <a:r>
              <a:rPr lang="en-GB" dirty="0"/>
              <a:t>, </a:t>
            </a:r>
            <a:r>
              <a:rPr lang="en-GB" dirty="0">
                <a:hlinkClick r:id="rId14"/>
              </a:rPr>
              <a:t>Erik K Mayer</a:t>
            </a:r>
            <a:r>
              <a:rPr lang="en-GB" baseline="30000" dirty="0"/>
              <a:t> </a:t>
            </a:r>
            <a:r>
              <a:rPr lang="en-GB" baseline="30000" dirty="0">
                <a:hlinkClick r:id="rId15" tooltip="ICARE SDE, Imperial College Healthcare NHS Trust, London, UK; Dept of Surgery and Cancer, Imperial College London, UK."/>
              </a:rPr>
              <a:t> 6 </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6418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09-2804-C7C6-D85F-30BE01A4D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C834F-BA4D-90D1-7DF4-7E251F08A3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108C2-F7E1-DB26-CC5C-57A1ED2DF58F}"/>
              </a:ext>
            </a:extLst>
          </p:cNvPr>
          <p:cNvSpPr>
            <a:spLocks noGrp="1"/>
          </p:cNvSpPr>
          <p:nvPr>
            <p:ph type="body" idx="1"/>
          </p:nvPr>
        </p:nvSpPr>
        <p:spPr/>
        <p:txBody>
          <a:bodyPr/>
          <a:lstStyle/>
          <a:p>
            <a:pPr marL="0" indent="0">
              <a:buFontTx/>
              <a:buNone/>
            </a:pPr>
            <a:endParaRPr lang="en-GB" dirty="0"/>
          </a:p>
        </p:txBody>
      </p:sp>
      <p:sp>
        <p:nvSpPr>
          <p:cNvPr id="4" name="Slide Number Placeholder 3">
            <a:extLst>
              <a:ext uri="{FF2B5EF4-FFF2-40B4-BE49-F238E27FC236}">
                <a16:creationId xmlns:a16="http://schemas.microsoft.com/office/drawing/2014/main" id="{8AA5D1BA-AE54-43B0-C165-A4E2737BFA6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4109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E0BD3-ED88-46E9-98D5-10BACB4C2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181D1-8FDA-FAEB-F5C7-A6E3F5225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B27DF-651E-3EDF-2CA7-820D9564FF25}"/>
              </a:ext>
            </a:extLst>
          </p:cNvPr>
          <p:cNvSpPr>
            <a:spLocks noGrp="1"/>
          </p:cNvSpPr>
          <p:nvPr>
            <p:ph type="body" idx="1"/>
          </p:nvPr>
        </p:nvSpPr>
        <p:spPr/>
        <p:txBody>
          <a:bodyPr/>
          <a:lstStyle/>
          <a:p>
            <a:pPr marL="0" indent="0">
              <a:buFontTx/>
              <a:buNone/>
            </a:pPr>
            <a:endParaRPr lang="en-GB" i="0" dirty="0"/>
          </a:p>
          <a:p>
            <a:pPr marL="171450" indent="-171450">
              <a:buFontTx/>
              <a:buChar char="-"/>
            </a:pPr>
            <a:r>
              <a:rPr lang="en-GB" i="0" dirty="0"/>
              <a:t>Multivariate = multiple outcome variables, like repeated measurements, not the same as multivariable!!</a:t>
            </a:r>
          </a:p>
          <a:p>
            <a:pPr marL="171450" indent="-171450">
              <a:buFontTx/>
              <a:buChar char="-"/>
            </a:pPr>
            <a:endParaRPr lang="en-GB" i="0" dirty="0"/>
          </a:p>
          <a:p>
            <a:pPr marL="171450" indent="-171450">
              <a:buFontTx/>
              <a:buChar char="-"/>
            </a:pPr>
            <a:r>
              <a:rPr lang="en-GB" i="0" dirty="0"/>
              <a:t>Predictors have synonyms like risk factors, variables, covariates, explanatory factors and whatnot. </a:t>
            </a:r>
          </a:p>
        </p:txBody>
      </p:sp>
      <p:sp>
        <p:nvSpPr>
          <p:cNvPr id="4" name="Slide Number Placeholder 3">
            <a:extLst>
              <a:ext uri="{FF2B5EF4-FFF2-40B4-BE49-F238E27FC236}">
                <a16:creationId xmlns:a16="http://schemas.microsoft.com/office/drawing/2014/main" id="{3D175EC7-F921-783F-CA39-B1CB58F132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0284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8C04-58FE-2F5F-71E6-50516CBA8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7EAA7-B624-16AD-8142-EF6D9FCEA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FA2FB-3604-C150-A216-41AB05318280}"/>
              </a:ext>
            </a:extLst>
          </p:cNvPr>
          <p:cNvSpPr>
            <a:spLocks noGrp="1"/>
          </p:cNvSpPr>
          <p:nvPr>
            <p:ph type="body" idx="1"/>
          </p:nvPr>
        </p:nvSpPr>
        <p:spPr/>
        <p:txBody>
          <a:bodyPr/>
          <a:lstStyle/>
          <a:p>
            <a:pPr marL="0" indent="0">
              <a:buFontTx/>
              <a:buNone/>
            </a:pPr>
            <a:r>
              <a:rPr lang="en-GB" dirty="0"/>
              <a:t>https://www.youtube.com/watch?v=fIsNM0stAz0</a:t>
            </a:r>
          </a:p>
        </p:txBody>
      </p:sp>
      <p:sp>
        <p:nvSpPr>
          <p:cNvPr id="4" name="Slide Number Placeholder 3">
            <a:extLst>
              <a:ext uri="{FF2B5EF4-FFF2-40B4-BE49-F238E27FC236}">
                <a16:creationId xmlns:a16="http://schemas.microsoft.com/office/drawing/2014/main" id="{C42BF98B-08A3-022D-05E6-9FB37527DDE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8205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2B19-3AF3-13A4-1437-B6EEC90D2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D2FD7-6336-1FFC-056C-73982531A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A5761-D007-6746-811F-C2B46E41F525}"/>
              </a:ext>
            </a:extLst>
          </p:cNvPr>
          <p:cNvSpPr>
            <a:spLocks noGrp="1"/>
          </p:cNvSpPr>
          <p:nvPr>
            <p:ph type="body" idx="1"/>
          </p:nvPr>
        </p:nvSpPr>
        <p:spPr/>
        <p:txBody>
          <a:bodyPr/>
          <a:lstStyle/>
          <a:p>
            <a:r>
              <a:rPr lang="en-GB" b="1" dirty="0"/>
              <a:t>Cox regression &amp; prediction modelling</a:t>
            </a:r>
            <a:endParaRPr lang="en-GB" dirty="0"/>
          </a:p>
          <a:p>
            <a:r>
              <a:rPr lang="en-GB" dirty="0"/>
              <a:t>Cox regression is a survival analysis method that estimates how predictors (e.g., clinical or biological factors) influence the time until an event (e.g., death, relapse).</a:t>
            </a:r>
          </a:p>
          <a:p>
            <a:r>
              <a:rPr lang="en-GB" dirty="0"/>
              <a:t>In prediction modelling, it helps identify risk factors and quantify their impact while accounting for censored data (patients who haven’t yet experienced the event).</a:t>
            </a:r>
          </a:p>
          <a:p>
            <a:r>
              <a:rPr lang="en-GB" dirty="0"/>
              <a:t>The model outputs </a:t>
            </a:r>
            <a:r>
              <a:rPr lang="en-GB" b="1" dirty="0"/>
              <a:t>hazard ratios (HRs)</a:t>
            </a:r>
            <a:r>
              <a:rPr lang="en-GB" dirty="0"/>
              <a:t>, showing the relative risk of the event for different groups or per unit increase in a predictor.</a:t>
            </a:r>
          </a:p>
          <a:p>
            <a:r>
              <a:rPr lang="en-GB" b="1" dirty="0"/>
              <a:t>HR plot (Forest plot)</a:t>
            </a:r>
            <a:endParaRPr lang="en-GB" dirty="0"/>
          </a:p>
          <a:p>
            <a:r>
              <a:rPr lang="en-GB" dirty="0"/>
              <a:t>A hazard ratio (HR) plot visually displays the effect size (HR) and confidence intervals for each predictor.</a:t>
            </a:r>
          </a:p>
          <a:p>
            <a:r>
              <a:rPr lang="en-GB" dirty="0"/>
              <a:t>HR &gt; 1: higher risk; HR &lt; 1: lower risk; HR = 1: no effect.</a:t>
            </a:r>
          </a:p>
          <a:p>
            <a:r>
              <a:rPr lang="en-GB" dirty="0"/>
              <a:t>The plot allows quick comparison of which predictors are significant and their direction/strength of association.</a:t>
            </a:r>
          </a:p>
          <a:p>
            <a:endParaRPr lang="en-GB" dirty="0"/>
          </a:p>
          <a:p>
            <a:r>
              <a:rPr lang="en-GB" b="1" dirty="0"/>
              <a:t>Prognostic modelling</a:t>
            </a:r>
            <a:r>
              <a:rPr lang="en-GB" dirty="0"/>
              <a:t> aims to estimate the risk of a future outcome (e.g., survival, relapse) based on baseline characteristics.</a:t>
            </a:r>
          </a:p>
          <a:p>
            <a:r>
              <a:rPr lang="en-GB" dirty="0"/>
              <a:t>Cox regression is one of the most common methods because it models </a:t>
            </a:r>
            <a:r>
              <a:rPr lang="en-GB" b="1" dirty="0"/>
              <a:t>time-to-event outcomes</a:t>
            </a:r>
            <a:r>
              <a:rPr lang="en-GB" dirty="0"/>
              <a:t>, accounts for censoring, and produces </a:t>
            </a:r>
            <a:r>
              <a:rPr lang="en-GB" b="1" dirty="0"/>
              <a:t>hazard ratios</a:t>
            </a:r>
            <a:r>
              <a:rPr lang="en-GB" dirty="0"/>
              <a:t> that quantify how predictors influence prognosis.</a:t>
            </a:r>
          </a:p>
          <a:p>
            <a:r>
              <a:rPr lang="en-GB" dirty="0"/>
              <a:t>If the model includes only baseline predictors, it’s prognostic. If it also incorporates treatment effects or interactions, it can cross into </a:t>
            </a:r>
            <a:r>
              <a:rPr lang="en-GB" b="1" dirty="0"/>
              <a:t>predictive modelling</a:t>
            </a:r>
            <a:r>
              <a:rPr lang="en-GB" dirty="0"/>
              <a:t> (e.g., predicting differential benefit of treatments).</a:t>
            </a:r>
          </a:p>
          <a:p>
            <a:endParaRPr lang="en-GB" dirty="0"/>
          </a:p>
          <a:p>
            <a:pPr marL="0" indent="0">
              <a:buFontTx/>
              <a:buNone/>
            </a:pPr>
            <a:endParaRPr lang="en-GB" dirty="0"/>
          </a:p>
        </p:txBody>
      </p:sp>
      <p:sp>
        <p:nvSpPr>
          <p:cNvPr id="4" name="Slide Number Placeholder 3">
            <a:extLst>
              <a:ext uri="{FF2B5EF4-FFF2-40B4-BE49-F238E27FC236}">
                <a16:creationId xmlns:a16="http://schemas.microsoft.com/office/drawing/2014/main" id="{B094C657-EC07-3EA8-DFD6-8FE3F8FB4B2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2192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B0954-7BD8-BB09-519E-5500E37C6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815AA-E89D-E99C-4B5A-4A0BD98D0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6ED61-14B5-E2C8-E9D0-24C6A39874F3}"/>
              </a:ext>
            </a:extLst>
          </p:cNvPr>
          <p:cNvSpPr>
            <a:spLocks noGrp="1"/>
          </p:cNvSpPr>
          <p:nvPr>
            <p:ph type="body" idx="1"/>
          </p:nvPr>
        </p:nvSpPr>
        <p:spPr/>
        <p:txBody>
          <a:bodyPr/>
          <a:lstStyle/>
          <a:p>
            <a:pPr marL="0" indent="0">
              <a:buFontTx/>
              <a:buNone/>
            </a:pPr>
            <a:endParaRPr lang="en-GB" dirty="0"/>
          </a:p>
          <a:p>
            <a:pPr marL="171450" indent="-171450">
              <a:buFontTx/>
              <a:buChar char="-"/>
            </a:pPr>
            <a:r>
              <a:rPr lang="en-GB" dirty="0"/>
              <a:t>The equation can be simplified further to ‘simple scores’ (regression coefficients rounded to the nearest integer to sum them) or nomograms (graphical representations of prediction models). </a:t>
            </a:r>
          </a:p>
          <a:p>
            <a:pPr marL="171450" indent="-171450">
              <a:buFontTx/>
              <a:buChar char="-"/>
            </a:pPr>
            <a:endParaRPr lang="en-GB" dirty="0"/>
          </a:p>
          <a:p>
            <a:pPr marL="171450" indent="-171450">
              <a:buFontTx/>
              <a:buChar char="-"/>
            </a:pPr>
            <a:r>
              <a:rPr lang="en-GB" dirty="0"/>
              <a:t>The formulae are very often hidden nowadays, in web apps, calculators</a:t>
            </a:r>
          </a:p>
          <a:p>
            <a:pPr marL="171450" indent="-171450">
              <a:buFontTx/>
              <a:buChar cha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Nomogram to predict 3- and 5-year overall survival using six clinical characteristics. Locate patient’s variable on the corresponding axis; draw a line to the points axis, sum the points, and draw a line from the total points axis to the 3-year OS probability axis.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05AADCA8-F793-3E6C-D047-429E459551D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4463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8850-05B4-312D-E9A3-3C0076CCD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B4856-1122-1A20-B838-06E324F9F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C2CFE-2B6B-48B1-9341-F5BB9FD571B0}"/>
              </a:ext>
            </a:extLst>
          </p:cNvPr>
          <p:cNvSpPr>
            <a:spLocks noGrp="1"/>
          </p:cNvSpPr>
          <p:nvPr>
            <p:ph type="body" idx="1"/>
          </p:nvPr>
        </p:nvSpPr>
        <p:spPr/>
        <p:txBody>
          <a:bodyPr/>
          <a:lstStyle/>
          <a:p>
            <a:r>
              <a:rPr lang="en-GB" b="1" dirty="0"/>
              <a:t>Calibration plots:</a:t>
            </a:r>
            <a:r>
              <a:rPr lang="en-GB" dirty="0"/>
              <a:t> Graphical tools comparing predicted risks with observed outcomes across risk groups. Good calibration means predicted probabilities closely match actual event rates.</a:t>
            </a:r>
          </a:p>
          <a:p>
            <a:r>
              <a:rPr lang="en-GB" b="1" dirty="0"/>
              <a:t>AUROC / C-statistic:</a:t>
            </a:r>
            <a:r>
              <a:rPr lang="en-GB" dirty="0"/>
              <a:t> Measures how well a model distinguishes between those with and without the outcome. A value of 0.5 means no discrimination, while 1.0 means perfect separation.</a:t>
            </a:r>
          </a:p>
          <a:p>
            <a:r>
              <a:rPr lang="en-GB" b="1" dirty="0"/>
              <a:t>Decision curve analysis (DCA):</a:t>
            </a:r>
            <a:r>
              <a:rPr lang="en-GB" dirty="0"/>
              <a:t> Assesses whether using a model provides more benefit than harm at different risk thresholds. It accounts for clinical consequences by balancing true positives against false positives.</a:t>
            </a:r>
          </a:p>
          <a:p>
            <a:r>
              <a:rPr lang="en-GB" b="1" dirty="0"/>
              <a:t>External validation:</a:t>
            </a:r>
            <a:r>
              <a:rPr lang="en-GB" dirty="0"/>
              <a:t> Testing the model in new populations, settings, or time periods beyond the development dataset. This shows if the model generalizes well in real-world use.</a:t>
            </a:r>
          </a:p>
          <a:p>
            <a:r>
              <a:rPr lang="en-GB" b="1" dirty="0"/>
              <a:t>Randomized controlled trials (RCTs):</a:t>
            </a:r>
            <a:r>
              <a:rPr lang="en-GB" dirty="0"/>
              <a:t> Experiments where patients are randomized to care with or without the model’s guidance. They provide the strongest evidence on whether the model improves clinical outcomes.</a:t>
            </a:r>
          </a:p>
          <a:p>
            <a:pPr marL="171450" indent="-171450">
              <a:buFontTx/>
              <a:buChar char="-"/>
            </a:pPr>
            <a:endParaRPr lang="en-GB" i="0" dirty="0"/>
          </a:p>
        </p:txBody>
      </p:sp>
      <p:sp>
        <p:nvSpPr>
          <p:cNvPr id="4" name="Slide Number Placeholder 3">
            <a:extLst>
              <a:ext uri="{FF2B5EF4-FFF2-40B4-BE49-F238E27FC236}">
                <a16:creationId xmlns:a16="http://schemas.microsoft.com/office/drawing/2014/main" id="{7FB7D850-E05B-C2AB-679B-3DD7B03FB75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746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A5C0-1A81-1096-49A1-D93A9690E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F9E7E-1FD4-8567-D160-C1707D7DD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0A15E-A535-4E9D-72BB-8841C34E63F1}"/>
              </a:ext>
            </a:extLst>
          </p:cNvPr>
          <p:cNvSpPr>
            <a:spLocks noGrp="1"/>
          </p:cNvSpPr>
          <p:nvPr>
            <p:ph type="body" idx="1"/>
          </p:nvPr>
        </p:nvSpPr>
        <p:spPr/>
        <p:txBody>
          <a:bodyPr/>
          <a:lstStyle/>
          <a:p>
            <a:pPr marL="171450" indent="-171450">
              <a:buFontTx/>
              <a:buChar char="-"/>
            </a:pPr>
            <a:r>
              <a:rPr lang="en-GB" b="1" i="0" dirty="0"/>
              <a:t>DOR = Diagnostic Odds Ratio</a:t>
            </a:r>
            <a:r>
              <a:rPr lang="en-GB" i="0" dirty="0"/>
              <a:t>. A statistical measure of a diagnostic test’s ability to discriminate between the presence and absence of a disease. </a:t>
            </a:r>
          </a:p>
          <a:p>
            <a:pPr marL="171450" indent="-171450">
              <a:buFontTx/>
              <a:buChar char="-"/>
            </a:pPr>
            <a:endParaRPr lang="en-GB" i="0" dirty="0"/>
          </a:p>
          <a:p>
            <a:pPr marL="171450" indent="-171450">
              <a:buFontTx/>
              <a:buChar char="-"/>
            </a:pPr>
            <a:r>
              <a:rPr lang="en-GB" i="0" dirty="0"/>
              <a:t>DOR = OR of a positive test in a diseased patient / OR of a positive test in a non-diseased patient</a:t>
            </a:r>
          </a:p>
          <a:p>
            <a:pPr marL="171450" indent="-171450">
              <a:buFontTx/>
              <a:buChar char="-"/>
            </a:pPr>
            <a:endParaRPr lang="en-GB" i="0" dirty="0"/>
          </a:p>
          <a:p>
            <a:pPr marL="171450" indent="-171450">
              <a:buFontTx/>
              <a:buChar char="-"/>
            </a:pPr>
            <a:r>
              <a:rPr lang="en-GB" i="0" dirty="0"/>
              <a:t>DOR = (True Positive / False Negative) / (False Positive / True Negative)</a:t>
            </a:r>
          </a:p>
          <a:p>
            <a:pPr marL="171450" indent="-171450">
              <a:buFontTx/>
              <a:buChar char="-"/>
            </a:pPr>
            <a:endParaRPr lang="en-GB" i="0" dirty="0"/>
          </a:p>
          <a:p>
            <a:pPr marL="171450" indent="-171450">
              <a:buFontTx/>
              <a:buChar char="-"/>
            </a:pPr>
            <a:r>
              <a:rPr lang="en-GB" i="0" dirty="0"/>
              <a:t>DOR = LR+ / LR-</a:t>
            </a:r>
          </a:p>
          <a:p>
            <a:pPr marL="171450" indent="-171450">
              <a:buFontTx/>
              <a:buChar char="-"/>
            </a:pPr>
            <a:endParaRPr lang="en-GB" i="0" dirty="0"/>
          </a:p>
          <a:p>
            <a:pPr marL="171450" indent="-171450">
              <a:buFontTx/>
              <a:buChar char="-"/>
            </a:pPr>
            <a:r>
              <a:rPr lang="en-GB" i="0" dirty="0"/>
              <a:t>DOR = 1 </a:t>
            </a:r>
            <a:r>
              <a:rPr lang="en-GB" i="0" dirty="0">
                <a:sym typeface="Wingdings" panose="05000000000000000000" pitchFamily="2" charset="2"/>
              </a:rPr>
              <a:t> no discriminatory power</a:t>
            </a:r>
          </a:p>
          <a:p>
            <a:pPr marL="171450" indent="-171450">
              <a:buFontTx/>
              <a:buChar char="-"/>
            </a:pPr>
            <a:endParaRPr lang="en-GB" i="0" dirty="0">
              <a:sym typeface="Wingdings" panose="05000000000000000000" pitchFamily="2" charset="2"/>
            </a:endParaRPr>
          </a:p>
          <a:p>
            <a:pPr marL="171450" indent="-171450">
              <a:buFontTx/>
              <a:buChar char="-"/>
            </a:pPr>
            <a:r>
              <a:rPr lang="en-GB" i="0" dirty="0">
                <a:sym typeface="Wingdings" panose="05000000000000000000" pitchFamily="2" charset="2"/>
              </a:rPr>
              <a:t>DOR combines sensitivity and specificity </a:t>
            </a:r>
          </a:p>
          <a:p>
            <a:pPr marL="171450" indent="-171450">
              <a:buFontTx/>
              <a:buChar char="-"/>
            </a:pPr>
            <a:endParaRPr lang="en-GB" i="0" dirty="0">
              <a:sym typeface="Wingdings" panose="05000000000000000000" pitchFamily="2" charset="2"/>
            </a:endParaRPr>
          </a:p>
          <a:p>
            <a:pPr marL="171450" indent="-171450">
              <a:buFontTx/>
              <a:buChar char="-"/>
            </a:pPr>
            <a:r>
              <a:rPr lang="en-GB" i="0" dirty="0">
                <a:sym typeface="Wingdings" panose="05000000000000000000" pitchFamily="2" charset="2"/>
              </a:rPr>
              <a:t>Unlike predictive values like PPVs, it is not influenced by the prevalence of the disease in the population, therefore useful for comparing a test across settings. </a:t>
            </a:r>
            <a:endParaRPr lang="en-GB" i="0" dirty="0"/>
          </a:p>
        </p:txBody>
      </p:sp>
      <p:sp>
        <p:nvSpPr>
          <p:cNvPr id="4" name="Slide Number Placeholder 3">
            <a:extLst>
              <a:ext uri="{FF2B5EF4-FFF2-40B4-BE49-F238E27FC236}">
                <a16:creationId xmlns:a16="http://schemas.microsoft.com/office/drawing/2014/main" id="{227AEB49-BA36-B092-38B4-705FE25AC36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7948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39228-90E1-4DA2-250A-463BD45AA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BD5D7-A722-B618-B540-D2F5AD4B2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AC74A-8F53-553A-5676-7FBFA01CCDA2}"/>
              </a:ext>
            </a:extLst>
          </p:cNvPr>
          <p:cNvSpPr>
            <a:spLocks noGrp="1"/>
          </p:cNvSpPr>
          <p:nvPr>
            <p:ph type="body" idx="1"/>
          </p:nvPr>
        </p:nvSpPr>
        <p:spPr/>
        <p:txBody>
          <a:bodyPr/>
          <a:lstStyle/>
          <a:p>
            <a:pPr marL="171450" indent="-171450">
              <a:buFontTx/>
              <a:buChar char="-"/>
            </a:pPr>
            <a:r>
              <a:rPr lang="en-GB" i="0" dirty="0"/>
              <a:t>https://www.qcancer.org/male/</a:t>
            </a:r>
          </a:p>
        </p:txBody>
      </p:sp>
      <p:sp>
        <p:nvSpPr>
          <p:cNvPr id="4" name="Slide Number Placeholder 3">
            <a:extLst>
              <a:ext uri="{FF2B5EF4-FFF2-40B4-BE49-F238E27FC236}">
                <a16:creationId xmlns:a16="http://schemas.microsoft.com/office/drawing/2014/main" id="{ED02E3D9-8522-4F95-84E9-E7F1C4B8F1B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2220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20BF0-75BC-86FA-EA2F-4DF76D7AC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A6A8E-3D2D-5BDA-4918-AA7430C1E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33714-F3E5-0F2F-CEA2-3DE398E21BCE}"/>
              </a:ext>
            </a:extLst>
          </p:cNvPr>
          <p:cNvSpPr>
            <a:spLocks noGrp="1"/>
          </p:cNvSpPr>
          <p:nvPr>
            <p:ph type="body" idx="1"/>
          </p:nvPr>
        </p:nvSpPr>
        <p:spPr/>
        <p:txBody>
          <a:bodyPr/>
          <a:lstStyle/>
          <a:p>
            <a:pPr marL="171450" indent="-171450">
              <a:buFontTx/>
              <a:buChar char="-"/>
            </a:pPr>
            <a:r>
              <a:rPr lang="en-GB" b="1" i="0" u="sng" dirty="0"/>
              <a:t>Artificial Neural Network </a:t>
            </a:r>
            <a:r>
              <a:rPr lang="en-GB" i="0" dirty="0"/>
              <a:t>– An AI model inspired by the human brain, that learns to perform tasks by processing data through interconnected neurons. </a:t>
            </a:r>
          </a:p>
          <a:p>
            <a:pPr marL="171450" indent="-171450">
              <a:buFontTx/>
              <a:buChar char="-"/>
            </a:pPr>
            <a:endParaRPr lang="en-GB" i="0" dirty="0"/>
          </a:p>
          <a:p>
            <a:pPr marL="171450" indent="-171450">
              <a:buFontTx/>
              <a:buChar char="-"/>
            </a:pPr>
            <a:r>
              <a:rPr lang="en-GB" b="1" i="0" dirty="0"/>
              <a:t>Structure</a:t>
            </a:r>
            <a:r>
              <a:rPr lang="en-GB" i="0" dirty="0"/>
              <a:t> – </a:t>
            </a:r>
          </a:p>
          <a:p>
            <a:pPr marL="628650" lvl="1" indent="-171450">
              <a:buFontTx/>
              <a:buChar char="-"/>
            </a:pPr>
            <a:r>
              <a:rPr lang="en-GB" i="0" dirty="0"/>
              <a:t>Input Layer – Receives the raw data (READ codes).</a:t>
            </a:r>
          </a:p>
          <a:p>
            <a:pPr marL="628650" lvl="1" indent="-171450">
              <a:buFontTx/>
              <a:buChar char="-"/>
            </a:pPr>
            <a:endParaRPr lang="en-GB" i="0" dirty="0"/>
          </a:p>
          <a:p>
            <a:pPr marL="628650" lvl="1" indent="-171450">
              <a:buFontTx/>
              <a:buChar char="-"/>
            </a:pPr>
            <a:r>
              <a:rPr lang="en-GB" i="0" dirty="0"/>
              <a:t>Hidden Layers – One or more layers where data processing happens.</a:t>
            </a:r>
          </a:p>
          <a:p>
            <a:pPr marL="628650" lvl="1" indent="-171450">
              <a:buFontTx/>
              <a:buChar char="-"/>
            </a:pPr>
            <a:endParaRPr lang="en-GB" i="0" dirty="0"/>
          </a:p>
          <a:p>
            <a:pPr marL="628650" lvl="1" indent="-171450">
              <a:buFontTx/>
              <a:buChar char="-"/>
            </a:pPr>
            <a:r>
              <a:rPr lang="en-GB" i="0" dirty="0"/>
              <a:t>Output Layer – Generates the result.</a:t>
            </a:r>
          </a:p>
          <a:p>
            <a:pPr marL="628650" lvl="1" indent="-171450">
              <a:buFontTx/>
              <a:buChar char="-"/>
            </a:pPr>
            <a:endParaRPr lang="en-GB" i="0" dirty="0"/>
          </a:p>
          <a:p>
            <a:pPr marL="628650" lvl="1" indent="-171450">
              <a:buFontTx/>
              <a:buChar char="-"/>
            </a:pPr>
            <a:r>
              <a:rPr lang="en-GB" i="0" dirty="0"/>
              <a:t>Each node = a linear regression model</a:t>
            </a:r>
          </a:p>
          <a:p>
            <a:pPr marL="628650" lvl="1" indent="-171450">
              <a:buFontTx/>
              <a:buChar char="-"/>
            </a:pPr>
            <a:endParaRPr lang="en-GB" i="0" dirty="0"/>
          </a:p>
          <a:p>
            <a:pPr marL="171450" lvl="0" indent="-171450">
              <a:buFontTx/>
              <a:buChar char="-"/>
            </a:pPr>
            <a:r>
              <a:rPr lang="en-GB" b="1" i="0" dirty="0"/>
              <a:t>Neurons &amp; Weights </a:t>
            </a:r>
            <a:r>
              <a:rPr lang="en-GB" i="0" dirty="0"/>
              <a:t>– Each neuron receives an input, makes a calculation, propagates information forward. The strength of the neuronal connections is represented by “weight”, that the network adjusts during training (</a:t>
            </a:r>
            <a:r>
              <a:rPr lang="el-GR" dirty="0"/>
              <a:t>Σ</a:t>
            </a:r>
            <a:r>
              <a:rPr lang="en-GB" dirty="0" err="1"/>
              <a:t>wᵢx</a:t>
            </a:r>
            <a:r>
              <a:rPr lang="en-GB" dirty="0"/>
              <a:t>ᵢ)</a:t>
            </a:r>
            <a:r>
              <a:rPr lang="en-GB" i="0" dirty="0"/>
              <a:t>. A bias term b is added to the weighted sum, generating a new value. Bias allows more model flexibility, shifting the activation function left or right. Allows the model to fit the data better, enabling the neuron to fire even when </a:t>
            </a:r>
            <a:r>
              <a:rPr lang="el-GR" dirty="0"/>
              <a:t>Σ(</a:t>
            </a:r>
            <a:r>
              <a:rPr lang="en-GB" dirty="0" err="1"/>
              <a:t>wᵢx</a:t>
            </a:r>
            <a:r>
              <a:rPr lang="en-GB" dirty="0"/>
              <a:t>ᵢ) is low.</a:t>
            </a:r>
            <a:endParaRPr lang="en-GB" i="0" dirty="0"/>
          </a:p>
          <a:p>
            <a:pPr marL="171450" lvl="0" indent="-171450">
              <a:buFontTx/>
              <a:buChar char="-"/>
            </a:pPr>
            <a:endParaRPr lang="en-GB" i="0" dirty="0"/>
          </a:p>
          <a:p>
            <a:pPr marL="0" lvl="0" indent="0">
              <a:buFontTx/>
              <a:buNone/>
            </a:pPr>
            <a:r>
              <a:rPr lang="en-GB" dirty="0"/>
              <a:t>     </a:t>
            </a:r>
            <a:r>
              <a:rPr lang="el-GR" dirty="0"/>
              <a:t>Σ(</a:t>
            </a:r>
            <a:r>
              <a:rPr lang="en-GB" dirty="0" err="1"/>
              <a:t>wᵢx</a:t>
            </a:r>
            <a:r>
              <a:rPr lang="en-GB" dirty="0"/>
              <a:t>ᵢ) + b is passed to an activation function like sigmoid. The bias determines how easily the neuron will reach          activation threshold or not, firing or not. </a:t>
            </a:r>
          </a:p>
          <a:p>
            <a:pPr marL="0" lvl="0" indent="0">
              <a:buFontTx/>
              <a:buNone/>
            </a:pPr>
            <a:endParaRPr lang="en-GB" i="0" dirty="0"/>
          </a:p>
          <a:p>
            <a:pPr marL="0" lvl="0" indent="0">
              <a:buFontTx/>
              <a:buNone/>
            </a:pPr>
            <a:r>
              <a:rPr lang="en-GB" i="0" dirty="0"/>
              <a:t>-  </a:t>
            </a:r>
            <a:r>
              <a:rPr lang="en-GB" i="0" u="sng" dirty="0"/>
              <a:t>Activation function </a:t>
            </a:r>
            <a:r>
              <a:rPr lang="en-GB" i="0" dirty="0"/>
              <a:t>= a mathematical function applied to the output of each layer of neurons in the network to introduce nonlinearity and allow the network to learn more complex patterns in the data. </a:t>
            </a:r>
          </a:p>
          <a:p>
            <a:pPr marL="171450" lvl="0" indent="-171450">
              <a:buFontTx/>
              <a:buChar char="-"/>
            </a:pPr>
            <a:endParaRPr lang="en-GB" i="0" dirty="0"/>
          </a:p>
          <a:p>
            <a:pPr marL="171450" lvl="0" indent="-171450">
              <a:buFontTx/>
              <a:buChar char="-"/>
            </a:pPr>
            <a:r>
              <a:rPr lang="en-GB" b="1" i="0" dirty="0"/>
              <a:t>Training</a:t>
            </a:r>
            <a:r>
              <a:rPr lang="en-GB" i="0" dirty="0"/>
              <a:t> – Supervised learning. The network is trained on training data with known outcomes. There is ‘error adjustment’ to adjust for any wrong predictions, through backpropagation.</a:t>
            </a:r>
          </a:p>
          <a:p>
            <a:pPr marL="0" lvl="0" indent="0">
              <a:buFontTx/>
              <a:buNone/>
            </a:pPr>
            <a:endParaRPr lang="en-GB" i="0" dirty="0"/>
          </a:p>
          <a:p>
            <a:pPr marL="0" lvl="0" indent="0">
              <a:buFontTx/>
              <a:buNone/>
            </a:pPr>
            <a:r>
              <a:rPr lang="en-GB" i="0" dirty="0"/>
              <a:t>     A cost or loss function measures the error between the model’s predictions and true values, with lower cost   </a:t>
            </a:r>
          </a:p>
          <a:p>
            <a:pPr marL="0" lvl="0" indent="0">
              <a:buFontTx/>
              <a:buNone/>
            </a:pPr>
            <a:r>
              <a:rPr lang="en-GB" i="0" dirty="0"/>
              <a:t>     indicating higher accuracy. For example, mean squared error MSE = (1/n) * </a:t>
            </a:r>
            <a:r>
              <a:rPr lang="el-GR" i="0" dirty="0"/>
              <a:t>Σ(</a:t>
            </a:r>
            <a:r>
              <a:rPr lang="en-GB" i="0" dirty="0" err="1"/>
              <a:t>actual_i</a:t>
            </a:r>
            <a:r>
              <a:rPr lang="en-GB" i="0" dirty="0"/>
              <a:t> - </a:t>
            </a:r>
            <a:r>
              <a:rPr lang="en-GB" i="0" dirty="0" err="1"/>
              <a:t>predicted_i</a:t>
            </a:r>
            <a:r>
              <a:rPr lang="en-GB" i="0" dirty="0"/>
              <a:t>)²</a:t>
            </a:r>
          </a:p>
          <a:p>
            <a:pPr marL="171450" lvl="0" indent="-171450">
              <a:buFontTx/>
              <a:buChar char="-"/>
            </a:pPr>
            <a:endParaRPr lang="en-GB" i="0" dirty="0"/>
          </a:p>
          <a:p>
            <a:pPr marL="0" lvl="0" indent="0">
              <a:buFontTx/>
              <a:buNone/>
            </a:pPr>
            <a:r>
              <a:rPr lang="en-GB" i="0" dirty="0"/>
              <a:t>     To minimise loss, the network can use an algorithm called backpropagation. </a:t>
            </a:r>
          </a:p>
          <a:p>
            <a:pPr marL="0" lvl="0" indent="0">
              <a:buFontTx/>
              <a:buNone/>
            </a:pPr>
            <a:endParaRPr lang="en-GB" i="0" dirty="0"/>
          </a:p>
          <a:p>
            <a:pPr marL="0" lvl="0" indent="0">
              <a:buFontTx/>
              <a:buNone/>
            </a:pPr>
            <a:r>
              <a:rPr lang="en-GB" i="0" dirty="0"/>
              <a:t>    Training happens in 4 steps (using a feedforward network/FNN/multilayer perceptron/MLP as an example):</a:t>
            </a:r>
          </a:p>
          <a:p>
            <a:pPr marL="0" lvl="0" indent="0">
              <a:buFontTx/>
              <a:buNone/>
            </a:pPr>
            <a:r>
              <a:rPr lang="en-GB" i="0" dirty="0"/>
              <a:t>    (1) Forward pass of inputs, computing linear combinations, passing through the nonlinear activation function like        </a:t>
            </a:r>
          </a:p>
          <a:p>
            <a:pPr marL="0" lvl="0" indent="0">
              <a:buFontTx/>
              <a:buNone/>
            </a:pPr>
            <a:r>
              <a:rPr lang="en-GB" i="0" dirty="0"/>
              <a:t>    sigmoid and then producing an output prediction; (2) Error calculation with the loss function calculating the       difference between the predicted and actual values; (3) Backward Pass/backpropagation where the error is passed backward through the network. At each neuron the </a:t>
            </a:r>
            <a:r>
              <a:rPr lang="en-GB" i="0" dirty="0" err="1"/>
              <a:t>algoithim</a:t>
            </a:r>
            <a:r>
              <a:rPr lang="en-GB" i="0" dirty="0"/>
              <a:t> calculations how much each weight, bias contributed to the error using chain rule of calculus </a:t>
            </a:r>
            <a:r>
              <a:rPr lang="en-GB" i="0" dirty="0" err="1"/>
              <a:t>dy</a:t>
            </a:r>
            <a:r>
              <a:rPr lang="en-GB" i="0" dirty="0"/>
              <a:t>/dx = f'(g(x)) * g’(x); (4) Weights are updated in the direction that reduces error using an optimisation method like gradient descent</a:t>
            </a:r>
          </a:p>
          <a:p>
            <a:pPr marL="0" lvl="0" indent="0">
              <a:buFontTx/>
              <a:buNone/>
            </a:pPr>
            <a:endParaRPr lang="en-GB" i="0" dirty="0"/>
          </a:p>
          <a:p>
            <a:pPr marL="0" lvl="0" indent="0">
              <a:buFontTx/>
              <a:buNone/>
            </a:pPr>
            <a:r>
              <a:rPr lang="en-GB" i="0" dirty="0"/>
              <a:t> Iteration, repeating the process, also improves the network’s accuracy. </a:t>
            </a:r>
          </a:p>
          <a:p>
            <a:pPr marL="171450" lvl="0" indent="-171450">
              <a:buFontTx/>
              <a:buChar char="-"/>
            </a:pPr>
            <a:endParaRPr lang="en-GB" i="0" dirty="0"/>
          </a:p>
          <a:p>
            <a:pPr marL="171450" lvl="0" indent="-171450">
              <a:buFontTx/>
              <a:buChar char="-"/>
            </a:pPr>
            <a:r>
              <a:rPr lang="en-GB" i="0" dirty="0"/>
              <a:t>Once trained the network can work on new data, using the learned weights.</a:t>
            </a:r>
          </a:p>
        </p:txBody>
      </p:sp>
      <p:sp>
        <p:nvSpPr>
          <p:cNvPr id="4" name="Slide Number Placeholder 3">
            <a:extLst>
              <a:ext uri="{FF2B5EF4-FFF2-40B4-BE49-F238E27FC236}">
                <a16:creationId xmlns:a16="http://schemas.microsoft.com/office/drawing/2014/main" id="{30244EA8-9AF1-A12C-C6B3-52E292938F5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656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0FC3A-A3F6-49FB-7FFC-C29C69947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45630-00DC-25FB-8E70-21CE06A9C8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17207-2921-5629-6A0E-77D0269793E7}"/>
              </a:ext>
            </a:extLst>
          </p:cNvPr>
          <p:cNvSpPr>
            <a:spLocks noGrp="1"/>
          </p:cNvSpPr>
          <p:nvPr>
            <p:ph type="body" idx="1"/>
          </p:nvPr>
        </p:nvSpPr>
        <p:spPr/>
        <p:txBody>
          <a:bodyPr/>
          <a:lstStyle/>
          <a:p>
            <a:pPr marL="285750" lvl="0" indent="-285750" defTabSz="457200">
              <a:buFont typeface="Arial" panose="020B0604020202020204" pitchFamily="34" charset="0"/>
              <a:buChar char="•"/>
              <a:defRPr/>
            </a:pPr>
            <a:r>
              <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rPr>
              <a:t>An RNN tracks a sequence’s context by maintaining a hidden state at each time step. A feedback loop is generated by passing the hidden state from one-time step to the next. Hidden state = memory storing info. </a:t>
            </a:r>
            <a:r>
              <a:rPr lang="en-GB" sz="1200" dirty="0">
                <a:solidFill>
                  <a:prstClr val="black"/>
                </a:solidFill>
                <a:latin typeface="Calibri" panose="020F0502020204030204"/>
              </a:rPr>
              <a:t>about previous inputs. </a:t>
            </a:r>
          </a:p>
          <a:p>
            <a:pPr marL="285750" lvl="0" indent="-285750" defTabSz="457200">
              <a:buFont typeface="Arial" panose="020B0604020202020204" pitchFamily="34" charset="0"/>
              <a:buChar char="•"/>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sz="1200" dirty="0">
                <a:solidFill>
                  <a:prstClr val="black"/>
                </a:solidFill>
                <a:latin typeface="Calibri" panose="020F0502020204030204"/>
              </a:rPr>
              <a:t>At each time step, the RNN processes the current input AS WELL AS the hidden state from the previous time step. The RNN “remembers” the previous data points and uses that info. to influence the current output. </a:t>
            </a:r>
          </a:p>
          <a:p>
            <a:pPr marL="285750" lvl="0" indent="-285750" defTabSz="457200">
              <a:buFont typeface="Arial" panose="020B0604020202020204" pitchFamily="34" charset="0"/>
              <a:buChar char="•"/>
              <a:defRPr/>
            </a:pP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sz="1200" dirty="0">
                <a:solidFill>
                  <a:prstClr val="black"/>
                </a:solidFill>
                <a:latin typeface="Calibri" panose="020F0502020204030204"/>
              </a:rPr>
              <a:t>RNNs are also distinguished by sharing parameters across each network layer. FNNs have different weights across each node whilst RNNs share the same weight parameter within each network layer. Nonetheless, the weights are still adjusted through backpropagation and gradient descent to improve the mode/ do reinforcement learning. </a:t>
            </a:r>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indent="-171450">
              <a:buFontTx/>
              <a:buChar char="-"/>
            </a:pPr>
            <a:endParaRPr lang="en-GB" i="0" dirty="0"/>
          </a:p>
        </p:txBody>
      </p:sp>
      <p:sp>
        <p:nvSpPr>
          <p:cNvPr id="4" name="Slide Number Placeholder 3">
            <a:extLst>
              <a:ext uri="{FF2B5EF4-FFF2-40B4-BE49-F238E27FC236}">
                <a16:creationId xmlns:a16="http://schemas.microsoft.com/office/drawing/2014/main" id="{CFFD1CD8-247F-F7AF-F3E6-A2391F234E7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294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82AB0-7494-A7E8-7571-600618488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2A60C-B6C9-9CB9-60C6-6E66B8A86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83724-95A3-469A-EEF1-E25DDFB39DEB}"/>
              </a:ext>
            </a:extLst>
          </p:cNvPr>
          <p:cNvSpPr>
            <a:spLocks noGrp="1"/>
          </p:cNvSpPr>
          <p:nvPr>
            <p:ph type="body" idx="1"/>
          </p:nvPr>
        </p:nvSpPr>
        <p:spPr/>
        <p:txBody>
          <a:bodyPr/>
          <a:lstStyle/>
          <a:p>
            <a:pPr marL="171450" indent="-171450">
              <a:buFontTx/>
              <a:buChar char="-"/>
            </a:pPr>
            <a:r>
              <a:rPr lang="en-GB" i="0" dirty="0"/>
              <a:t>An example of the long-term dependency problem. </a:t>
            </a:r>
            <a:r>
              <a:rPr lang="en-GB" dirty="0"/>
              <a:t>“Alice is allergic to nuts. She can’t eat </a:t>
            </a:r>
            <a:r>
              <a:rPr lang="en-GB" i="1" dirty="0"/>
              <a:t>peanut butter</a:t>
            </a:r>
            <a:r>
              <a:rPr lang="en-GB" dirty="0"/>
              <a:t>.” The nut allergy context ensures we know Alice shouldn’t eat peanut butter. However, if that context was several sentences prior, it would make it difficult, even impossible for the RNN to connect the information. </a:t>
            </a:r>
          </a:p>
          <a:p>
            <a:pPr marL="171450" indent="-171450">
              <a:buFontTx/>
              <a:buChar char="-"/>
            </a:pPr>
            <a:endParaRPr lang="en-GB" i="0" dirty="0"/>
          </a:p>
          <a:p>
            <a:pPr marL="171450" indent="-171450">
              <a:buFontTx/>
              <a:buChar char="-"/>
            </a:pPr>
            <a:r>
              <a:rPr lang="en-GB" i="0" dirty="0"/>
              <a:t>LSTMs have “cells” in the hidden layers of the ANN, with 3 gates: an input, an output, and a forget. </a:t>
            </a:r>
          </a:p>
          <a:p>
            <a:pPr marL="171450" indent="-171450">
              <a:buFontTx/>
              <a:buChar char="-"/>
            </a:pPr>
            <a:endParaRPr lang="en-GB" i="0" dirty="0"/>
          </a:p>
          <a:p>
            <a:pPr marL="171450" indent="-171450">
              <a:buFontTx/>
              <a:buChar char="-"/>
            </a:pPr>
            <a:r>
              <a:rPr lang="en-GB" i="0" dirty="0"/>
              <a:t>These 3 gates control the flow of information needed to predict the network output. For example, if gender pronouns like “she” are repeated many times in prior sentences, that might be excluded from the cell state. </a:t>
            </a:r>
          </a:p>
        </p:txBody>
      </p:sp>
      <p:sp>
        <p:nvSpPr>
          <p:cNvPr id="4" name="Slide Number Placeholder 3">
            <a:extLst>
              <a:ext uri="{FF2B5EF4-FFF2-40B4-BE49-F238E27FC236}">
                <a16:creationId xmlns:a16="http://schemas.microsoft.com/office/drawing/2014/main" id="{56FAB83E-2D78-8674-4EBE-C7F36B41C60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2419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838EA-1653-AE7F-41C5-BBCFA1D43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76FFC-A370-572A-FFE4-3C94DD5F6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3AB89-EB85-6482-1256-0EDDE9BEDF74}"/>
              </a:ext>
            </a:extLst>
          </p:cNvPr>
          <p:cNvSpPr>
            <a:spLocks noGrp="1"/>
          </p:cNvSpPr>
          <p:nvPr>
            <p:ph type="body" idx="1"/>
          </p:nvPr>
        </p:nvSpPr>
        <p:spPr/>
        <p:txBody>
          <a:bodyPr/>
          <a:lstStyle/>
          <a:p>
            <a:pPr marL="171450" indent="-171450">
              <a:buFontTx/>
              <a:buChar char="-"/>
            </a:pPr>
            <a:r>
              <a:rPr lang="en-GB" i="0" dirty="0"/>
              <a:t>First described in the seminal paper “Attention is All you Need” by Vaswani et al. .</a:t>
            </a:r>
          </a:p>
          <a:p>
            <a:pPr marL="171450" indent="-171450">
              <a:buFontTx/>
              <a:buChar char="-"/>
            </a:pPr>
            <a:endParaRPr lang="en-GB" i="0" dirty="0"/>
          </a:p>
          <a:p>
            <a:pPr marL="171450" indent="-171450">
              <a:buFontTx/>
              <a:buChar char="-"/>
            </a:pPr>
            <a:r>
              <a:rPr lang="en-GB" i="0" dirty="0"/>
              <a:t>Associated with large language models. LLMs like GPT-3 (Generative Pre-trained Transformer) that powered ChatGPT.</a:t>
            </a:r>
          </a:p>
          <a:p>
            <a:pPr marL="171450" indent="-171450">
              <a:buFontTx/>
              <a:buChar char="-"/>
            </a:pPr>
            <a:endParaRPr lang="en-GB" i="0" dirty="0"/>
          </a:p>
          <a:p>
            <a:pPr marL="171450" indent="-171450">
              <a:buFontTx/>
              <a:buChar char="-"/>
            </a:pPr>
            <a:r>
              <a:rPr lang="en-GB" b="1" dirty="0"/>
              <a:t>Self-supervised learning - </a:t>
            </a:r>
            <a:r>
              <a:rPr lang="en-GB" dirty="0"/>
              <a:t>a </a:t>
            </a:r>
            <a:r>
              <a:rPr lang="en-GB" dirty="0">
                <a:solidFill>
                  <a:schemeClr val="tx1"/>
                </a:solidFill>
                <a:hlinkClick r:id="rId3">
                  <a:extLst>
                    <a:ext uri="{A12FA001-AC4F-418D-AE19-62706E023703}">
                      <ahyp:hlinkClr xmlns:ahyp="http://schemas.microsoft.com/office/drawing/2018/hyperlinkcolor" val="tx"/>
                    </a:ext>
                  </a:extLst>
                </a:hlinkClick>
              </a:rPr>
              <a:t>machine learning technique</a:t>
            </a:r>
            <a:r>
              <a:rPr lang="en-GB" dirty="0">
                <a:solidFill>
                  <a:schemeClr val="tx1"/>
                </a:solidFill>
              </a:rPr>
              <a:t> </a:t>
            </a:r>
            <a:r>
              <a:rPr lang="en-GB" dirty="0"/>
              <a:t>that uses </a:t>
            </a:r>
            <a:r>
              <a:rPr lang="en-GB" dirty="0">
                <a:solidFill>
                  <a:schemeClr val="tx1"/>
                </a:solidFill>
                <a:hlinkClick r:id="rId4">
                  <a:extLst>
                    <a:ext uri="{A12FA001-AC4F-418D-AE19-62706E023703}">
                      <ahyp:hlinkClr xmlns:ahyp="http://schemas.microsoft.com/office/drawing/2018/hyperlinkcolor" val="tx"/>
                    </a:ext>
                  </a:extLst>
                </a:hlinkClick>
              </a:rPr>
              <a:t>unsupervised learning</a:t>
            </a:r>
            <a:r>
              <a:rPr lang="en-GB" dirty="0">
                <a:solidFill>
                  <a:schemeClr val="tx1"/>
                </a:solidFill>
              </a:rPr>
              <a:t> for tasks that conventionally require </a:t>
            </a:r>
            <a:r>
              <a:rPr lang="en-GB" dirty="0">
                <a:solidFill>
                  <a:schemeClr val="tx1"/>
                </a:solidFill>
                <a:hlinkClick r:id="rId5">
                  <a:extLst>
                    <a:ext uri="{A12FA001-AC4F-418D-AE19-62706E023703}">
                      <ahyp:hlinkClr xmlns:ahyp="http://schemas.microsoft.com/office/drawing/2018/hyperlinkcolor" val="tx"/>
                    </a:ext>
                  </a:extLst>
                </a:hlinkClick>
              </a:rPr>
              <a:t>supervised learning</a:t>
            </a:r>
            <a:r>
              <a:rPr lang="en-GB" dirty="0"/>
              <a:t>. Rather than relying on labelled datasets for supervisory signals, self-supervised models generate implicit labels from unstructured data.</a:t>
            </a:r>
            <a:endParaRPr lang="en-GB" i="0" dirty="0"/>
          </a:p>
        </p:txBody>
      </p:sp>
      <p:sp>
        <p:nvSpPr>
          <p:cNvPr id="4" name="Slide Number Placeholder 3">
            <a:extLst>
              <a:ext uri="{FF2B5EF4-FFF2-40B4-BE49-F238E27FC236}">
                <a16:creationId xmlns:a16="http://schemas.microsoft.com/office/drawing/2014/main" id="{840E16A6-066D-97E7-1419-2E031CEDED0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1808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023D7-37BF-1594-A708-D4A351405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E8F47-9D6E-481F-8CF1-8B0823171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0FDD9-EBDA-2B84-52A3-471A36A0AE7B}"/>
              </a:ext>
            </a:extLst>
          </p:cNvPr>
          <p:cNvSpPr>
            <a:spLocks noGrp="1"/>
          </p:cNvSpPr>
          <p:nvPr>
            <p:ph type="body" idx="1"/>
          </p:nvPr>
        </p:nvSpPr>
        <p:spPr/>
        <p:txBody>
          <a:bodyPr/>
          <a:lstStyle/>
          <a:p>
            <a:pPr marL="171450" indent="-171450">
              <a:buFontTx/>
              <a:buChar char="-"/>
            </a:pPr>
            <a:endParaRPr lang="en-GB" i="0" dirty="0"/>
          </a:p>
        </p:txBody>
      </p:sp>
      <p:sp>
        <p:nvSpPr>
          <p:cNvPr id="4" name="Slide Number Placeholder 3">
            <a:extLst>
              <a:ext uri="{FF2B5EF4-FFF2-40B4-BE49-F238E27FC236}">
                <a16:creationId xmlns:a16="http://schemas.microsoft.com/office/drawing/2014/main" id="{5F9526B5-8582-31DF-24FF-35E25EE71D2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9444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EDC2C-7AEE-B02B-3D3C-8F19CEE98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892BD-D4B5-D1AA-C961-6B27040D2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A9BC8-D748-9699-5D17-D1ECDDA0B5E7}"/>
              </a:ext>
            </a:extLst>
          </p:cNvPr>
          <p:cNvSpPr>
            <a:spLocks noGrp="1"/>
          </p:cNvSpPr>
          <p:nvPr>
            <p:ph type="body" idx="1"/>
          </p:nvPr>
        </p:nvSpPr>
        <p:spPr/>
        <p:txBody>
          <a:bodyPr/>
          <a:lstStyle/>
          <a:p>
            <a:pPr marL="171450" indent="-171450">
              <a:buFontTx/>
              <a:buChar char="-"/>
            </a:pPr>
            <a:endParaRPr lang="en-GB" i="0" dirty="0"/>
          </a:p>
        </p:txBody>
      </p:sp>
      <p:sp>
        <p:nvSpPr>
          <p:cNvPr id="4" name="Slide Number Placeholder 3">
            <a:extLst>
              <a:ext uri="{FF2B5EF4-FFF2-40B4-BE49-F238E27FC236}">
                <a16:creationId xmlns:a16="http://schemas.microsoft.com/office/drawing/2014/main" id="{9E96BB20-22F6-D96B-F41D-583CC4E4F9C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2238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2983-7BBB-6FE1-5B88-C1F95F42C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6CCC3-C41B-F7EE-7227-30B89F646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BB4B9-D8B9-BFF4-6B78-5C304FB2B4D8}"/>
              </a:ext>
            </a:extLst>
          </p:cNvPr>
          <p:cNvSpPr>
            <a:spLocks noGrp="1"/>
          </p:cNvSpPr>
          <p:nvPr>
            <p:ph type="body" idx="1"/>
          </p:nvPr>
        </p:nvSpPr>
        <p:spPr/>
        <p:txBody>
          <a:bodyPr/>
          <a:lstStyle/>
          <a:p>
            <a:pPr marL="171450" indent="-171450">
              <a:buFontTx/>
              <a:buChar char="-"/>
            </a:pPr>
            <a:r>
              <a:rPr lang="en-GB" i="0" dirty="0"/>
              <a:t>https://www.ibm.com/think/topics/transformer-model</a:t>
            </a:r>
          </a:p>
          <a:p>
            <a:pPr marL="171450" indent="-171450">
              <a:buFontTx/>
              <a:buChar char="-"/>
            </a:pPr>
            <a:endParaRPr lang="en-GB" i="0" dirty="0"/>
          </a:p>
          <a:p>
            <a:pPr marL="171450" indent="-171450">
              <a:buFontTx/>
              <a:buChar char="-"/>
            </a:pPr>
            <a:r>
              <a:rPr lang="en-GB" i="0" dirty="0"/>
              <a:t>https://www.ibm.com/think/topics/attention-mechanism</a:t>
            </a:r>
          </a:p>
        </p:txBody>
      </p:sp>
      <p:sp>
        <p:nvSpPr>
          <p:cNvPr id="4" name="Slide Number Placeholder 3">
            <a:extLst>
              <a:ext uri="{FF2B5EF4-FFF2-40B4-BE49-F238E27FC236}">
                <a16:creationId xmlns:a16="http://schemas.microsoft.com/office/drawing/2014/main" id="{4EA6ED38-5200-8F1D-63E1-3899155E66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6784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0F9C1-D5E9-A037-5894-45BE606A1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B5930-D9B5-645A-9D2E-4F8A79A51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F4DBC-4562-C4E0-3552-1B3D21200384}"/>
              </a:ext>
            </a:extLst>
          </p:cNvPr>
          <p:cNvSpPr>
            <a:spLocks noGrp="1"/>
          </p:cNvSpPr>
          <p:nvPr>
            <p:ph type="body" idx="1"/>
          </p:nvPr>
        </p:nvSpPr>
        <p:spPr/>
        <p:txBody>
          <a:bodyPr/>
          <a:lstStyle/>
          <a:p>
            <a:pPr marL="171450" indent="-171450">
              <a:buFontTx/>
              <a:buChar char="-"/>
            </a:pPr>
            <a:r>
              <a:rPr lang="en-GB" i="0" dirty="0"/>
              <a:t>Captures the multifaceted meanings of words(tokens) and their relationships to one another. </a:t>
            </a:r>
          </a:p>
          <a:p>
            <a:pPr marL="171450" indent="-171450">
              <a:buFontTx/>
              <a:buChar char="-"/>
            </a:pPr>
            <a:endParaRPr lang="en-GB" i="0" dirty="0"/>
          </a:p>
          <a:p>
            <a:pPr marL="171450" indent="-171450">
              <a:buFontTx/>
              <a:buChar char="-"/>
            </a:pPr>
            <a:r>
              <a:rPr lang="en-GB" i="0" dirty="0"/>
              <a:t>“The patient has a |40-pack-year smoking history|, |presents with persistent cough| and unintentional weight loss, and a CT scan revealed a |spiculated nodule in the right upper lobe|.”</a:t>
            </a:r>
          </a:p>
          <a:p>
            <a:pPr marL="0" indent="0">
              <a:buFontTx/>
              <a:buNone/>
            </a:pPr>
            <a:endParaRPr lang="en-GB" i="0" dirty="0"/>
          </a:p>
          <a:p>
            <a:pPr marL="171450" indent="-171450">
              <a:buFontTx/>
              <a:buChar char="-"/>
            </a:pPr>
            <a:r>
              <a:rPr lang="en-GB" i="0" dirty="0"/>
              <a:t>Before being fed into the first FNN layer, each original input token, after embedding, is split into </a:t>
            </a:r>
            <a:r>
              <a:rPr lang="en-GB" i="1" dirty="0"/>
              <a:t>h </a:t>
            </a:r>
            <a:r>
              <a:rPr lang="en-GB" i="0" dirty="0"/>
              <a:t>evenly sized subsets. </a:t>
            </a:r>
          </a:p>
          <a:p>
            <a:pPr marL="171450" indent="-171450">
              <a:buFontTx/>
              <a:buChar char="-"/>
            </a:pPr>
            <a:endParaRPr lang="en-GB" i="0" dirty="0"/>
          </a:p>
          <a:p>
            <a:pPr marL="171450" indent="-171450">
              <a:buFontTx/>
              <a:buChar char="-"/>
            </a:pPr>
            <a:r>
              <a:rPr lang="en-GB" i="0" dirty="0"/>
              <a:t>Each piece of embedding goes into the </a:t>
            </a:r>
            <a:r>
              <a:rPr lang="en-GB" i="1" dirty="0"/>
              <a:t>h</a:t>
            </a:r>
            <a:r>
              <a:rPr lang="en-GB" i="0" dirty="0"/>
              <a:t> parallel matric of </a:t>
            </a:r>
            <a:r>
              <a:rPr lang="en-GB" i="1" dirty="0"/>
              <a:t>Q, K, </a:t>
            </a:r>
            <a:r>
              <a:rPr lang="en-GB" i="0" dirty="0"/>
              <a:t>and </a:t>
            </a:r>
            <a:r>
              <a:rPr lang="en-GB" i="1" dirty="0"/>
              <a:t>V</a:t>
            </a:r>
            <a:r>
              <a:rPr lang="en-GB" i="0" dirty="0"/>
              <a:t> weights – </a:t>
            </a:r>
            <a:r>
              <a:rPr lang="en-GB" i="1" dirty="0"/>
              <a:t>query head, key head, value head.</a:t>
            </a:r>
          </a:p>
          <a:p>
            <a:pPr marL="171450" indent="-171450">
              <a:buFontTx/>
              <a:buChar char="-"/>
            </a:pPr>
            <a:endParaRPr lang="en-GB" i="1" dirty="0"/>
          </a:p>
          <a:p>
            <a:pPr marL="171450" indent="-171450">
              <a:buFontTx/>
              <a:buChar char="-"/>
            </a:pPr>
            <a:r>
              <a:rPr lang="en-GB" i="0" dirty="0"/>
              <a:t>Each of these parallel triplets are fed into the </a:t>
            </a:r>
            <a:r>
              <a:rPr lang="en-GB" i="1" dirty="0"/>
              <a:t>attention head</a:t>
            </a:r>
            <a:r>
              <a:rPr lang="en-GB" i="0" dirty="0"/>
              <a:t>. </a:t>
            </a:r>
          </a:p>
        </p:txBody>
      </p:sp>
      <p:sp>
        <p:nvSpPr>
          <p:cNvPr id="4" name="Slide Number Placeholder 3">
            <a:extLst>
              <a:ext uri="{FF2B5EF4-FFF2-40B4-BE49-F238E27FC236}">
                <a16:creationId xmlns:a16="http://schemas.microsoft.com/office/drawing/2014/main" id="{F0B9DA3F-A813-9690-3452-B753D0B118A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5706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2AD5-91D9-C57A-98E7-1EC3BC06F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58378-0817-81D0-87BB-F63158EBE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7B421-3576-94B3-928D-9E0ABF7FB3E7}"/>
              </a:ext>
            </a:extLst>
          </p:cNvPr>
          <p:cNvSpPr>
            <a:spLocks noGrp="1"/>
          </p:cNvSpPr>
          <p:nvPr>
            <p:ph type="body" idx="1"/>
          </p:nvPr>
        </p:nvSpPr>
        <p:spPr/>
        <p:txBody>
          <a:bodyPr/>
          <a:lstStyle/>
          <a:p>
            <a:pPr marL="171450" indent="-171450">
              <a:buFontTx/>
              <a:buChar char="-"/>
            </a:pPr>
            <a:r>
              <a:rPr lang="en-GB" i="0" dirty="0"/>
              <a:t>Patient-level pathways to diagnosis developed using medical codes appearing over 3 years before diagnosis, with a temporal order. </a:t>
            </a:r>
          </a:p>
          <a:p>
            <a:pPr marL="171450" indent="-171450">
              <a:buFontTx/>
              <a:buChar char="-"/>
            </a:pPr>
            <a:endParaRPr lang="en-GB" i="0" dirty="0"/>
          </a:p>
          <a:p>
            <a:pPr marL="171450" indent="-171450">
              <a:buFontTx/>
              <a:buChar char="-"/>
            </a:pPr>
            <a:r>
              <a:rPr lang="en-GB" b="1" i="0" dirty="0"/>
              <a:t>End point </a:t>
            </a:r>
            <a:r>
              <a:rPr lang="en-GB" i="0" dirty="0"/>
              <a:t>= index lung cancer diagnosis. Lung cancer took precedence over other cancers.</a:t>
            </a:r>
          </a:p>
          <a:p>
            <a:pPr marL="171450" indent="-171450">
              <a:buFontTx/>
              <a:buChar char="-"/>
            </a:pPr>
            <a:endParaRPr lang="en-GB" i="0" dirty="0"/>
          </a:p>
          <a:p>
            <a:pPr marL="171450" indent="-171450">
              <a:buFontTx/>
              <a:buChar char="-"/>
            </a:pPr>
            <a:r>
              <a:rPr lang="en-GB" b="1" i="0" dirty="0"/>
              <a:t>Control group </a:t>
            </a:r>
            <a:r>
              <a:rPr lang="en-GB" i="0" dirty="0"/>
              <a:t>= patients with codes for ‘cancers not lung’, with date of first cancer diagnostic code. </a:t>
            </a:r>
          </a:p>
          <a:p>
            <a:pPr marL="171450" indent="-171450">
              <a:buFontTx/>
              <a:buChar char="-"/>
            </a:pPr>
            <a:endParaRPr lang="en-GB" i="0" dirty="0"/>
          </a:p>
          <a:p>
            <a:pPr marL="171450" indent="-171450">
              <a:buFontTx/>
              <a:buChar char="-"/>
            </a:pPr>
            <a:r>
              <a:rPr lang="en-GB" i="0" dirty="0"/>
              <a:t>Of 3.3mil patients, 11.8K with lung cancer, 31.3K unique read codes were collected. </a:t>
            </a:r>
          </a:p>
          <a:p>
            <a:pPr marL="171450" indent="-171450">
              <a:buFontTx/>
              <a:buChar char="-"/>
            </a:pPr>
            <a:endParaRPr lang="en-GB" i="0" dirty="0"/>
          </a:p>
          <a:p>
            <a:pPr marL="171450" indent="-171450">
              <a:buFontTx/>
              <a:buChar char="-"/>
            </a:pPr>
            <a:r>
              <a:rPr lang="en-GB" i="0" dirty="0"/>
              <a:t>‘Clinically guided’ mapping of codes to higher terms generated 450 Read code groups.</a:t>
            </a:r>
          </a:p>
          <a:p>
            <a:pPr marL="171450" indent="-171450">
              <a:buFontTx/>
              <a:buChar char="-"/>
            </a:pPr>
            <a:endParaRPr lang="en-GB" i="0" dirty="0"/>
          </a:p>
          <a:p>
            <a:pPr marL="171450" indent="-171450">
              <a:buFontTx/>
              <a:buChar char="-"/>
            </a:pPr>
            <a:r>
              <a:rPr lang="en-GB" i="0" dirty="0"/>
              <a:t>Encoded pathways were generated to reduce noise, excluding patients with &lt;10 read codes/groups in the 3 years before diagnosis. </a:t>
            </a:r>
          </a:p>
        </p:txBody>
      </p:sp>
      <p:sp>
        <p:nvSpPr>
          <p:cNvPr id="4" name="Slide Number Placeholder 3">
            <a:extLst>
              <a:ext uri="{FF2B5EF4-FFF2-40B4-BE49-F238E27FC236}">
                <a16:creationId xmlns:a16="http://schemas.microsoft.com/office/drawing/2014/main" id="{B3FBB0BC-8739-8B2B-C548-7703593F24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2540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1318-ED7C-C1A1-2E31-28E66B5B7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8EE4C-5656-64B0-901C-836D45434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82D6F-82DF-4B4E-7ED4-A7A0F1DF8EB3}"/>
              </a:ext>
            </a:extLst>
          </p:cNvPr>
          <p:cNvSpPr>
            <a:spLocks noGrp="1"/>
          </p:cNvSpPr>
          <p:nvPr>
            <p:ph type="body" idx="1"/>
          </p:nvPr>
        </p:nvSpPr>
        <p:spPr/>
        <p:txBody>
          <a:bodyPr/>
          <a:lstStyle/>
          <a:p>
            <a:pPr marL="171450" indent="-171450">
              <a:buFontTx/>
              <a:buChar char="-"/>
            </a:pPr>
            <a:r>
              <a:rPr lang="en-GB" i="0" dirty="0"/>
              <a:t>A new model, </a:t>
            </a:r>
            <a:r>
              <a:rPr lang="en-GB" i="0" dirty="0" err="1"/>
              <a:t>MedAlbert</a:t>
            </a:r>
            <a:r>
              <a:rPr lang="en-GB" i="0" dirty="0"/>
              <a:t>, based on ALBERT was used. This model has fewer parameters and lower memory consumption than BERT. </a:t>
            </a:r>
          </a:p>
          <a:p>
            <a:pPr marL="171450" indent="-171450">
              <a:buFontTx/>
              <a:buChar char="-"/>
            </a:pPr>
            <a:endParaRPr lang="en-GB" i="0" dirty="0"/>
          </a:p>
          <a:p>
            <a:pPr marL="171450" indent="-171450">
              <a:buFontTx/>
              <a:buChar char="-"/>
            </a:pPr>
            <a:r>
              <a:rPr lang="en-GB" i="0" dirty="0"/>
              <a:t>BERT = Bidirectional Encoder Representations from Transformers. A transformer model that understand language in context.</a:t>
            </a:r>
          </a:p>
          <a:p>
            <a:pPr marL="171450" indent="-171450">
              <a:buFontTx/>
              <a:buChar char="-"/>
            </a:pPr>
            <a:endParaRPr lang="en-GB" i="0" dirty="0"/>
          </a:p>
          <a:p>
            <a:pPr marL="171450" indent="-171450">
              <a:buFontTx/>
              <a:buChar char="-"/>
            </a:pPr>
            <a:r>
              <a:rPr lang="en-GB" i="0" dirty="0"/>
              <a:t>BERT read text both left-to-right and right-to-left. It uses self-attention to see how words in a sentence relate to other words. </a:t>
            </a:r>
          </a:p>
          <a:p>
            <a:pPr marL="171450" indent="-171450">
              <a:buFontTx/>
              <a:buChar char="-"/>
            </a:pPr>
            <a:endParaRPr lang="en-GB" i="0" dirty="0"/>
          </a:p>
          <a:p>
            <a:pPr marL="171450" indent="-171450">
              <a:buFontTx/>
              <a:buChar char="-"/>
            </a:pPr>
            <a:r>
              <a:rPr lang="en-GB" i="0" dirty="0"/>
              <a:t>BERT uses ‘Masked Language Modelling’ to randomly hide words and trains the model to guess them.</a:t>
            </a:r>
          </a:p>
          <a:p>
            <a:pPr marL="171450" indent="-171450">
              <a:buFontTx/>
              <a:buChar char="-"/>
            </a:pPr>
            <a:endParaRPr lang="en-GB" i="0" dirty="0"/>
          </a:p>
          <a:p>
            <a:pPr marL="171450" indent="-171450">
              <a:buFontTx/>
              <a:buChar char="-"/>
            </a:pPr>
            <a:r>
              <a:rPr lang="en-GB" i="0" dirty="0"/>
              <a:t>BERT uses Next Sentence Prediction to teach sentence relationships. </a:t>
            </a:r>
          </a:p>
          <a:p>
            <a:pPr marL="171450" indent="-171450">
              <a:buFontTx/>
              <a:buChar char="-"/>
            </a:pPr>
            <a:endParaRPr lang="en-GB" i="0" dirty="0"/>
          </a:p>
          <a:p>
            <a:pPr marL="171450" indent="-171450">
              <a:buFontTx/>
              <a:buChar char="-"/>
            </a:pPr>
            <a:r>
              <a:rPr lang="en-GB" i="0" dirty="0" err="1"/>
              <a:t>MedAlbert</a:t>
            </a:r>
            <a:r>
              <a:rPr lang="en-GB" i="0" dirty="0"/>
              <a:t> is a 6-layer transformer with 12 attention heads to learn the representations for each medical code at each layer by integrating long range contextual information in a pathway. </a:t>
            </a:r>
          </a:p>
          <a:p>
            <a:pPr marL="171450" indent="-171450">
              <a:buFontTx/>
              <a:buChar char="-"/>
            </a:pPr>
            <a:endParaRPr lang="en-GB" i="0" dirty="0"/>
          </a:p>
          <a:p>
            <a:pPr marL="171450" indent="-171450">
              <a:buFontTx/>
              <a:buChar char="-"/>
            </a:pPr>
            <a:r>
              <a:rPr lang="en-GB" i="0" dirty="0"/>
              <a:t>There are 6x12 attention calculations allow many relationships and dependencies to be captured!</a:t>
            </a:r>
          </a:p>
          <a:p>
            <a:pPr marL="171450" indent="-171450">
              <a:buFontTx/>
              <a:buChar char="-"/>
            </a:pPr>
            <a:endParaRPr lang="en-GB" i="0" dirty="0"/>
          </a:p>
          <a:p>
            <a:pPr marL="171450" indent="-171450">
              <a:buFontTx/>
              <a:buChar char="-"/>
            </a:pPr>
            <a:r>
              <a:rPr lang="en-GB" i="0" dirty="0"/>
              <a:t>Fine tuned with a logistic regression classifier, simple and efficient technique.  Using a neural net instead would result in a slower, more memory-hungry model that could overfit data.</a:t>
            </a:r>
          </a:p>
          <a:p>
            <a:pPr marL="171450" indent="-171450">
              <a:buFontTx/>
              <a:buChar char="-"/>
            </a:pPr>
            <a:endParaRPr lang="en-GB" i="0" dirty="0"/>
          </a:p>
          <a:p>
            <a:pPr marL="171450" indent="-171450">
              <a:buFontTx/>
              <a:buChar char="-"/>
            </a:pPr>
            <a:endParaRPr lang="en-GB" i="0" dirty="0"/>
          </a:p>
        </p:txBody>
      </p:sp>
      <p:sp>
        <p:nvSpPr>
          <p:cNvPr id="4" name="Slide Number Placeholder 3">
            <a:extLst>
              <a:ext uri="{FF2B5EF4-FFF2-40B4-BE49-F238E27FC236}">
                <a16:creationId xmlns:a16="http://schemas.microsoft.com/office/drawing/2014/main" id="{7554E947-0C94-8163-F94A-614A2AF2DED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497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6CDB9-6779-6F1F-8132-515C9FD04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FFBF0-CB48-7EF0-0DB7-3103E80AE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18849-AD57-B1E9-47A3-FD30BE6906C7}"/>
              </a:ext>
            </a:extLst>
          </p:cNvPr>
          <p:cNvSpPr>
            <a:spLocks noGrp="1"/>
          </p:cNvSpPr>
          <p:nvPr>
            <p:ph type="body" idx="1"/>
          </p:nvPr>
        </p:nvSpPr>
        <p:spPr/>
        <p:txBody>
          <a:bodyPr/>
          <a:lstStyle/>
          <a:p>
            <a:pPr marL="171450" indent="-171450">
              <a:buFontTx/>
              <a:buChar char="-"/>
            </a:pPr>
            <a:endParaRPr lang="en-GB" i="0" dirty="0"/>
          </a:p>
          <a:p>
            <a:pPr marL="171450" indent="-171450">
              <a:buFontTx/>
              <a:buChar char="-"/>
            </a:pPr>
            <a:r>
              <a:rPr lang="en-GB" i="0" dirty="0"/>
              <a:t>Precision, Recall and AUROC used for evaluation. </a:t>
            </a:r>
          </a:p>
          <a:p>
            <a:pPr marL="171450" indent="-171450">
              <a:buFontTx/>
              <a:buChar char="-"/>
            </a:pPr>
            <a:endParaRPr lang="en-GB" i="0" dirty="0"/>
          </a:p>
          <a:p>
            <a:pPr marL="171450" indent="-171450">
              <a:buFontTx/>
              <a:buChar char="-"/>
            </a:pPr>
            <a:r>
              <a:rPr lang="en-GB" i="0" dirty="0"/>
              <a:t>Precision/ Positive Predictive Value = proportion of the patients with predicted lung cancer by the model that actually have lung cancer</a:t>
            </a:r>
          </a:p>
          <a:p>
            <a:pPr marL="171450" indent="-171450">
              <a:buFontTx/>
              <a:buChar char="-"/>
            </a:pPr>
            <a:endParaRPr lang="en-GB" i="0" dirty="0"/>
          </a:p>
          <a:p>
            <a:pPr marL="171450" indent="-171450">
              <a:buFontTx/>
              <a:buChar char="-"/>
            </a:pPr>
            <a:r>
              <a:rPr lang="en-GB" i="0" dirty="0"/>
              <a:t>Recall/Sensitivity - the proportion of actual patients with lung cancer that are correctly predicted as lung cancer as a proportion of lung cancer cases</a:t>
            </a:r>
          </a:p>
        </p:txBody>
      </p:sp>
      <p:sp>
        <p:nvSpPr>
          <p:cNvPr id="4" name="Slide Number Placeholder 3">
            <a:extLst>
              <a:ext uri="{FF2B5EF4-FFF2-40B4-BE49-F238E27FC236}">
                <a16:creationId xmlns:a16="http://schemas.microsoft.com/office/drawing/2014/main" id="{10B6388D-216A-A917-6050-1725245BCA1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3964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2B0B7-8EF4-7FBB-0C2D-92C37513F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F2486-E68C-66F1-6BEB-DA3BA8923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896DB-6EA8-0893-DE67-75B17F800B2F}"/>
              </a:ext>
            </a:extLst>
          </p:cNvPr>
          <p:cNvSpPr>
            <a:spLocks noGrp="1"/>
          </p:cNvSpPr>
          <p:nvPr>
            <p:ph type="body" idx="1"/>
          </p:nvPr>
        </p:nvSpPr>
        <p:spPr/>
        <p:txBody>
          <a:bodyPr/>
          <a:lstStyle/>
          <a:p>
            <a:pPr marL="171450" indent="-171450">
              <a:buFontTx/>
              <a:buChar char="-"/>
            </a:pPr>
            <a:endParaRPr lang="en-GB" i="0" dirty="0"/>
          </a:p>
          <a:p>
            <a:pPr marL="0" indent="0">
              <a:buFontTx/>
              <a:buNone/>
            </a:pPr>
            <a:endParaRPr lang="en-GB" i="0" dirty="0"/>
          </a:p>
          <a:p>
            <a:pPr marL="171450" indent="-171450">
              <a:buFontTx/>
              <a:buChar char="-"/>
            </a:pPr>
            <a:r>
              <a:rPr lang="en-GB" i="0" dirty="0"/>
              <a:t>Precision= proportion of the patients with predicted lung cancer by the model that actually have lung cancer. Precision = TP / (TP + FP)</a:t>
            </a:r>
          </a:p>
          <a:p>
            <a:pPr marL="171450" indent="-171450">
              <a:buFontTx/>
              <a:buChar char="-"/>
            </a:pPr>
            <a:endParaRPr lang="en-GB" i="0" dirty="0"/>
          </a:p>
          <a:p>
            <a:pPr marL="171450" indent="-171450">
              <a:buFontTx/>
              <a:buChar char="-"/>
            </a:pPr>
            <a:r>
              <a:rPr lang="en-GB" i="0" dirty="0"/>
              <a:t>Recall/Sensitivity - the proportion of actual patients with lung cancer that are correctly predicted as lung cancer as a proportion of lung cancer cases. Recall    = TP / (TP + FN)</a:t>
            </a:r>
          </a:p>
          <a:p>
            <a:pPr marL="171450" indent="-171450">
              <a:buFontTx/>
              <a:buChar char="-"/>
            </a:pPr>
            <a:endParaRPr lang="en-GB" i="0" dirty="0"/>
          </a:p>
          <a:p>
            <a:pPr marL="171450" indent="-171450">
              <a:buFontTx/>
              <a:buChar char="-"/>
            </a:pPr>
            <a:r>
              <a:rPr lang="en-GB" dirty="0"/>
              <a:t>F1 = 2 * (Precision * Recall) / (Precision + Recall). The harmonic mean of Precision and Recall</a:t>
            </a:r>
          </a:p>
          <a:p>
            <a:pPr marL="171450" indent="-171450">
              <a:buFontTx/>
              <a:buChar char="-"/>
            </a:pPr>
            <a:endParaRPr lang="en-GB" i="0" dirty="0"/>
          </a:p>
          <a:p>
            <a:pPr marL="171450" indent="-171450">
              <a:buFontTx/>
              <a:buChar char="-"/>
            </a:pPr>
            <a:r>
              <a:rPr lang="en-GB" i="0" dirty="0" err="1"/>
              <a:t>MedAlbert</a:t>
            </a:r>
            <a:r>
              <a:rPr lang="en-GB" i="0" dirty="0"/>
              <a:t> + LRC &gt; LRC alone. 1%-6% absolute improvement in all metrics. </a:t>
            </a:r>
          </a:p>
          <a:p>
            <a:pPr marL="171450" indent="-171450">
              <a:buFontTx/>
              <a:buChar char="-"/>
            </a:pPr>
            <a:endParaRPr lang="en-GB" i="0" dirty="0"/>
          </a:p>
          <a:p>
            <a:pPr marL="171450" indent="-171450">
              <a:buFontTx/>
              <a:buChar char="-"/>
            </a:pPr>
            <a:r>
              <a:rPr lang="en-GB" i="0" dirty="0"/>
              <a:t>“In the UK, NICE accept a PPV of 3% as a threshold for fast-track investigation of suspected cancer.”</a:t>
            </a:r>
          </a:p>
          <a:p>
            <a:pPr marL="171450" indent="-171450">
              <a:buFontTx/>
              <a:buChar char="-"/>
            </a:pPr>
            <a:endParaRPr lang="en-GB" i="0" dirty="0"/>
          </a:p>
          <a:p>
            <a:pPr marL="171450" indent="-171450">
              <a:buFontTx/>
              <a:buChar char="-"/>
            </a:pPr>
            <a:endParaRPr lang="en-GB" i="0" dirty="0"/>
          </a:p>
        </p:txBody>
      </p:sp>
      <p:sp>
        <p:nvSpPr>
          <p:cNvPr id="4" name="Slide Number Placeholder 3">
            <a:extLst>
              <a:ext uri="{FF2B5EF4-FFF2-40B4-BE49-F238E27FC236}">
                <a16:creationId xmlns:a16="http://schemas.microsoft.com/office/drawing/2014/main" id="{57963696-8C41-125C-FCC8-17ECC5B704D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0169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B2246-6A10-F6DB-111A-63B468BE7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815C8-9961-277C-6AF3-A82904A79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90102-61CC-1D6A-5A17-7F8D56F92B6E}"/>
              </a:ext>
            </a:extLst>
          </p:cNvPr>
          <p:cNvSpPr>
            <a:spLocks noGrp="1"/>
          </p:cNvSpPr>
          <p:nvPr>
            <p:ph type="body" idx="1"/>
          </p:nvPr>
        </p:nvSpPr>
        <p:spPr/>
        <p:txBody>
          <a:bodyPr/>
          <a:lstStyle/>
          <a:p>
            <a:pPr marL="171450" indent="-171450">
              <a:buFontTx/>
              <a:buChar char="-"/>
            </a:pPr>
            <a:endParaRPr lang="en-GB" i="0" dirty="0"/>
          </a:p>
          <a:p>
            <a:pPr marL="0" indent="0">
              <a:buFontTx/>
              <a:buNone/>
            </a:pPr>
            <a:endParaRPr lang="en-GB" i="0" dirty="0"/>
          </a:p>
          <a:p>
            <a:pPr marL="171450" indent="-171450">
              <a:buFontTx/>
              <a:buChar char="-"/>
            </a:pPr>
            <a:endParaRPr lang="en-GB" i="0" dirty="0"/>
          </a:p>
        </p:txBody>
      </p:sp>
      <p:sp>
        <p:nvSpPr>
          <p:cNvPr id="4" name="Slide Number Placeholder 3">
            <a:extLst>
              <a:ext uri="{FF2B5EF4-FFF2-40B4-BE49-F238E27FC236}">
                <a16:creationId xmlns:a16="http://schemas.microsoft.com/office/drawing/2014/main" id="{F1665F28-94F7-0208-1501-59002AC8F7D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32DCCA4-5DFC-4AA3-9643-AF697E22CFC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7660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8B22BE-A620-48E7-8E98-24CE8BBF622F}"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267D80-4D57-4CE7-A802-2F4536B4F240}"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040349"/>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B22BE-A620-48E7-8E98-24CE8BBF622F}"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3178470437"/>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8B22BE-A620-48E7-8E98-24CE8BBF622F}"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267D80-4D57-4CE7-A802-2F4536B4F240}"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092044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8B22BE-A620-48E7-8E98-24CE8BBF622F}" type="datetimeFigureOut">
              <a:rPr lang="en-GB" smtClean="0"/>
              <a:t>07/10/2025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531728963"/>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8B22BE-A620-48E7-8E98-24CE8BBF622F}" type="datetimeFigureOut">
              <a:rPr lang="en-GB" smtClean="0"/>
              <a:t>07/10/2025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1158383225"/>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8B22BE-A620-48E7-8E98-24CE8BBF622F}" type="datetimeFigureOut">
              <a:rPr lang="en-GB" smtClean="0"/>
              <a:t>07/10/2025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176040614"/>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8B22BE-A620-48E7-8E98-24CE8BBF622F}" type="datetimeFigureOut">
              <a:rPr lang="en-GB" smtClean="0"/>
              <a:t>07/10/2025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2610580798"/>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88B22BE-A620-48E7-8E98-24CE8BBF622F}" type="datetimeFigureOut">
              <a:rPr lang="en-GB" smtClean="0"/>
              <a:t>07/10/2025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9267D80-4D57-4CE7-A802-2F4536B4F240}" type="slidenum">
              <a:rPr lang="en-GB" smtClean="0"/>
              <a:t>‹#›</a:t>
            </a:fld>
            <a:endParaRPr lang="en-GB"/>
          </a:p>
        </p:txBody>
      </p:sp>
    </p:spTree>
    <p:extLst>
      <p:ext uri="{BB962C8B-B14F-4D97-AF65-F5344CB8AC3E}">
        <p14:creationId xmlns:p14="http://schemas.microsoft.com/office/powerpoint/2010/main" val="2216380915"/>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8B22BE-A620-48E7-8E98-24CE8BBF622F}" type="datetimeFigureOut">
              <a:rPr lang="en-GB" smtClean="0"/>
              <a:t>07/10/2025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1529163726"/>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B22BE-A620-48E7-8E98-24CE8BBF622F}"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2753744000"/>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8B22BE-A620-48E7-8E98-24CE8BBF622F}" type="datetimeFigureOut">
              <a:rPr lang="en-GB" smtClean="0"/>
              <a:t>07/10/2025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267D80-4D57-4CE7-A802-2F4536B4F240}" type="slidenum">
              <a:rPr lang="en-GB" smtClean="0"/>
              <a:t>‹#›</a:t>
            </a:fld>
            <a:endParaRPr lang="en-GB"/>
          </a:p>
        </p:txBody>
      </p:sp>
    </p:spTree>
    <p:extLst>
      <p:ext uri="{BB962C8B-B14F-4D97-AF65-F5344CB8AC3E}">
        <p14:creationId xmlns:p14="http://schemas.microsoft.com/office/powerpoint/2010/main" val="3957309819"/>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8B22BE-A620-48E7-8E98-24CE8BBF622F}" type="datetimeFigureOut">
              <a:rPr lang="en-GB" smtClean="0"/>
              <a:t>07/10/2025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9267D80-4D57-4CE7-A802-2F4536B4F240}"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9876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hyperlink" Target="https://isaric4c.net/risk/4c/"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0.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hyperlink" Target="https://www.ibm.com/think/topics/neural-networks" TargetMode="Externa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F8EE-C08A-4D43-A1D6-2C42B8D05A53}"/>
              </a:ext>
            </a:extLst>
          </p:cNvPr>
          <p:cNvSpPr>
            <a:spLocks noGrp="1"/>
          </p:cNvSpPr>
          <p:nvPr>
            <p:ph type="ctrTitle"/>
          </p:nvPr>
        </p:nvSpPr>
        <p:spPr>
          <a:xfrm>
            <a:off x="97996" y="-787174"/>
            <a:ext cx="11996008" cy="4216174"/>
          </a:xfrm>
        </p:spPr>
        <p:txBody>
          <a:bodyPr>
            <a:noAutofit/>
          </a:bodyPr>
          <a:lstStyle/>
          <a:p>
            <a:pPr algn="ctr"/>
            <a:r>
              <a:rPr lang="en-GB" sz="5400" b="1" u="sng" dirty="0"/>
              <a:t>A brief introduction to Prediction Modelling &amp; a Past WSIC Prediction Model – </a:t>
            </a:r>
            <a:r>
              <a:rPr lang="en-GB" sz="5400" b="1" i="1" u="sng" dirty="0"/>
              <a:t>Transformer deep learning to diagnosis suspected lung cancer</a:t>
            </a:r>
          </a:p>
        </p:txBody>
      </p:sp>
      <p:sp>
        <p:nvSpPr>
          <p:cNvPr id="6" name="TextBox 5">
            <a:extLst>
              <a:ext uri="{FF2B5EF4-FFF2-40B4-BE49-F238E27FC236}">
                <a16:creationId xmlns:a16="http://schemas.microsoft.com/office/drawing/2014/main" id="{766725D9-9FFA-422A-8AA3-A6A2EE9A59B6}"/>
              </a:ext>
            </a:extLst>
          </p:cNvPr>
          <p:cNvSpPr txBox="1"/>
          <p:nvPr/>
        </p:nvSpPr>
        <p:spPr>
          <a:xfrm>
            <a:off x="1081795" y="4439653"/>
            <a:ext cx="9641150"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George Melrose MSc(Bham.) BSc(Hons)(Glas.) MBCS AMRSB,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Research Assistant - Mohn Centre for Children's Health and Wellbeing, School of Public Health, Imperial College London</a:t>
            </a:r>
          </a:p>
        </p:txBody>
      </p:sp>
    </p:spTree>
    <p:custDataLst>
      <p:tags r:id="rId1"/>
    </p:custDataLst>
    <p:extLst>
      <p:ext uri="{BB962C8B-B14F-4D97-AF65-F5344CB8AC3E}">
        <p14:creationId xmlns:p14="http://schemas.microsoft.com/office/powerpoint/2010/main" val="311996472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5C6241-23D9-451B-8150-337CA1E7A56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961FDB9-3FA5-BDBB-E4AF-188990E45B31}"/>
              </a:ext>
            </a:extLst>
          </p:cNvPr>
          <p:cNvSpPr txBox="1">
            <a:spLocks/>
          </p:cNvSpPr>
          <p:nvPr/>
        </p:nvSpPr>
        <p:spPr>
          <a:xfrm>
            <a:off x="198567" y="-1002646"/>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2400" b="1" u="sng" dirty="0">
                <a:latin typeface="Calibri" panose="020F0502020204030204" pitchFamily="34" charset="0"/>
                <a:ea typeface="Calibri" panose="020F0502020204030204" pitchFamily="34" charset="0"/>
                <a:cs typeface="Calibri" panose="020F0502020204030204" pitchFamily="34" charset="0"/>
              </a:rPr>
              <a:t>Why use Prediction models? – Prognostic &amp; Diagnostic</a:t>
            </a:r>
          </a:p>
        </p:txBody>
      </p:sp>
      <p:sp>
        <p:nvSpPr>
          <p:cNvPr id="10" name="TextBox 9">
            <a:extLst>
              <a:ext uri="{FF2B5EF4-FFF2-40B4-BE49-F238E27FC236}">
                <a16:creationId xmlns:a16="http://schemas.microsoft.com/office/drawing/2014/main" id="{C103854D-ED30-CB56-8B6B-A1D44AA2742D}"/>
              </a:ext>
            </a:extLst>
          </p:cNvPr>
          <p:cNvSpPr txBox="1"/>
          <p:nvPr/>
        </p:nvSpPr>
        <p:spPr>
          <a:xfrm>
            <a:off x="99283" y="130611"/>
            <a:ext cx="11993434" cy="11818620"/>
          </a:xfrm>
          <a:prstGeom prst="rect">
            <a:avLst/>
          </a:prstGeom>
          <a:noFill/>
        </p:spPr>
        <p:txBody>
          <a:bodyPr wrap="square" rtlCol="0">
            <a:spAutoFit/>
          </a:bodyPr>
          <a:lstStyle/>
          <a:p>
            <a:pPr marL="285750" lvl="0" indent="-285750" defTabSz="457200">
              <a:buFont typeface="Arial" panose="020B0604020202020204" pitchFamily="34" charset="0"/>
              <a:buChar char="•"/>
              <a:defRPr/>
            </a:pPr>
            <a:endParaRPr lang="en-GB" b="1"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b="1" dirty="0">
                <a:solidFill>
                  <a:prstClr val="black"/>
                </a:solidFill>
                <a:latin typeface="Calibri" panose="020F0502020204030204"/>
              </a:rPr>
              <a:t>“</a:t>
            </a:r>
            <a:r>
              <a:rPr lang="en-GB" b="1" i="1" dirty="0">
                <a:solidFill>
                  <a:prstClr val="black"/>
                </a:solidFill>
                <a:latin typeface="Calibri" panose="020F0502020204030204"/>
              </a:rPr>
              <a:t>I never make predictions, and I never will.” </a:t>
            </a:r>
            <a:r>
              <a:rPr lang="en-GB" b="1" dirty="0">
                <a:solidFill>
                  <a:prstClr val="black"/>
                </a:solidFill>
                <a:latin typeface="Calibri" panose="020F0502020204030204"/>
              </a:rPr>
              <a:t>– Paul Gascoigne</a:t>
            </a:r>
          </a:p>
          <a:p>
            <a:pPr marL="285750" lvl="0" indent="-285750" defTabSz="457200">
              <a:buFont typeface="Arial" panose="020B0604020202020204" pitchFamily="34" charset="0"/>
              <a:buChar char="•"/>
              <a:defRPr/>
            </a:pPr>
            <a:endParaRPr lang="en-GB" b="1"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b="1" dirty="0">
                <a:solidFill>
                  <a:prstClr val="black"/>
                </a:solidFill>
                <a:latin typeface="Calibri" panose="020F0502020204030204"/>
              </a:rPr>
              <a:t>Prognosis</a:t>
            </a:r>
            <a:r>
              <a:rPr lang="en-GB" dirty="0">
                <a:solidFill>
                  <a:prstClr val="black"/>
                </a:solidFill>
                <a:latin typeface="Calibri" panose="020F0502020204030204"/>
              </a:rPr>
              <a:t> – The risk of future health outcomes in people with  given diseases or health conditions.</a:t>
            </a:r>
            <a:endParaRPr lang="en-GB" dirty="0">
              <a:solidFill>
                <a:prstClr val="black"/>
              </a:solidFill>
            </a:endParaRPr>
          </a:p>
          <a:p>
            <a:pPr lvl="0" defTabSz="457200">
              <a:defRPr/>
            </a:pPr>
            <a:endParaRPr lang="en-GB" dirty="0">
              <a:solidFill>
                <a:prstClr val="black"/>
              </a:solidFill>
            </a:endParaRPr>
          </a:p>
          <a:p>
            <a:pPr marL="285750" lvl="0" indent="-285750" defTabSz="457200">
              <a:buFont typeface="Arial" panose="020B0604020202020204" pitchFamily="34" charset="0"/>
              <a:buChar char="•"/>
              <a:defRPr/>
            </a:pPr>
            <a:r>
              <a:rPr lang="en-GB" b="1" dirty="0">
                <a:solidFill>
                  <a:prstClr val="black"/>
                </a:solidFill>
              </a:rPr>
              <a:t>Prognosis Research </a:t>
            </a:r>
            <a:r>
              <a:rPr lang="en-GB" dirty="0">
                <a:solidFill>
                  <a:prstClr val="black"/>
                </a:solidFill>
              </a:rPr>
              <a:t>– investigation of future outcomes (“endpoints”) in patients with given baseline health (“startpoints”), to improve their health. </a:t>
            </a:r>
          </a:p>
          <a:p>
            <a:pPr lvl="0" defTabSz="457200">
              <a:defRPr/>
            </a:pPr>
            <a:endParaRPr lang="en-GB" dirty="0">
              <a:solidFill>
                <a:prstClr val="black"/>
              </a:solidFill>
            </a:endParaRPr>
          </a:p>
          <a:p>
            <a:pPr marL="285750" lvl="0" indent="-285750" defTabSz="457200">
              <a:buFont typeface="Arial" panose="020B0604020202020204" pitchFamily="34" charset="0"/>
              <a:buChar char="•"/>
              <a:defRPr/>
            </a:pPr>
            <a:r>
              <a:rPr lang="en-GB" b="1" u="sng" dirty="0">
                <a:solidFill>
                  <a:prstClr val="black"/>
                </a:solidFill>
              </a:rPr>
              <a:t>Summarise, understand and predict health outcomes in clinically relevant populations </a:t>
            </a:r>
            <a:r>
              <a:rPr lang="en-GB" b="1" u="sng" dirty="0">
                <a:solidFill>
                  <a:prstClr val="black"/>
                </a:solidFill>
                <a:sym typeface="Wingdings" panose="05000000000000000000" pitchFamily="2" charset="2"/>
              </a:rPr>
              <a:t> inform clinical practice.</a:t>
            </a:r>
            <a:r>
              <a:rPr lang="en-GB" dirty="0">
                <a:solidFill>
                  <a:prstClr val="black"/>
                </a:solidFill>
                <a:sym typeface="Wingdings" panose="05000000000000000000" pitchFamily="2" charset="2"/>
              </a:rPr>
              <a:t> </a:t>
            </a:r>
            <a:endParaRPr lang="en-US"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b="1" dirty="0">
                <a:solidFill>
                  <a:prstClr val="black"/>
                </a:solidFill>
              </a:rPr>
              <a:t>Prediction (prognostic) model </a:t>
            </a:r>
            <a:r>
              <a:rPr lang="en-GB" dirty="0">
                <a:solidFill>
                  <a:prstClr val="black"/>
                </a:solidFill>
              </a:rPr>
              <a:t>– model to provide the risk(probability) of a clinically relevant outcome (death, readmission) for a patient with a particular disease, condition, medical history (primary inpatient admission once). </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dirty="0">
                <a:solidFill>
                  <a:prstClr val="black"/>
                </a:solidFill>
              </a:rPr>
              <a:t>Practical uses: treatment decisions: monitoring strategies; NICE cost effectiveness analysis; improving trial design. </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b="1" dirty="0">
                <a:solidFill>
                  <a:prstClr val="black"/>
                </a:solidFill>
              </a:rPr>
              <a:t>Diagnosis</a:t>
            </a:r>
            <a:r>
              <a:rPr lang="en-GB" dirty="0">
                <a:solidFill>
                  <a:prstClr val="black"/>
                </a:solidFill>
              </a:rPr>
              <a:t>– ”the art or act of identifying a disease from its signs and symptoms” - risk of disease, condition being present, e.g. diagnosis of T2DM for those with suspected T2DM</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dirty="0">
                <a:solidFill>
                  <a:prstClr val="black"/>
                </a:solidFill>
              </a:rPr>
              <a:t>For example, logistic regression models can be used for both whereas Cox-regression for prognosis.</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dirty="0">
                <a:solidFill>
                  <a:prstClr val="black"/>
                </a:solidFill>
              </a:rPr>
              <a:t>Cross-sectional data = Diagnosis , Follow-up data = Prognosis</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r>
              <a:rPr lang="en-GB" dirty="0">
                <a:solidFill>
                  <a:prstClr val="black"/>
                </a:solidFill>
              </a:rPr>
              <a:t>Regression is a fundamental tool – generates a transparent equation that can be easily reported and applied to new patients. </a:t>
            </a: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sz="2200" dirty="0">
              <a:solidFill>
                <a:prstClr val="black"/>
              </a:solidFill>
            </a:endParaRPr>
          </a:p>
          <a:p>
            <a:pPr marL="285750" lvl="0" indent="-285750" defTabSz="457200">
              <a:buFont typeface="Arial" panose="020B0604020202020204" pitchFamily="34" charset="0"/>
              <a:buChar char="•"/>
              <a:defRPr/>
            </a:pPr>
            <a:endParaRPr lang="en-GB" sz="22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kumimoji="0" lang="en-GB" sz="2400" b="0" i="0" u="none" strike="noStrike" kern="1200" cap="none" spc="0" normalizeH="0" noProof="0" dirty="0">
              <a:ln>
                <a:noFill/>
              </a:ln>
              <a:solidFill>
                <a:prstClr val="black"/>
              </a:solidFill>
              <a:effectLst/>
              <a:uLnTx/>
              <a:uFillTx/>
              <a:latin typeface="Calibri" panose="020F0502020204030204"/>
            </a:endParaRPr>
          </a:p>
          <a:p>
            <a:pPr marL="285750" lvl="0" indent="-285750" defTabSz="457200">
              <a:buFont typeface="Arial" panose="020B0604020202020204" pitchFamily="34" charset="0"/>
              <a:buChar char="•"/>
              <a:defRPr/>
            </a:pPr>
            <a:endParaRPr kumimoji="0" lang="en-GB" sz="2400" b="0" i="0" u="none" strike="noStrike" kern="1200" cap="none" spc="0" normalizeH="0" noProof="0" dirty="0">
              <a:ln>
                <a:noFill/>
              </a:ln>
              <a:solidFill>
                <a:prstClr val="black"/>
              </a:solidFill>
              <a:effectLst/>
              <a:uLnTx/>
              <a:uFillTx/>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2000" baseline="0" dirty="0">
              <a:solidFill>
                <a:prstClr val="black"/>
              </a:solidFill>
              <a:latin typeface="Calibri" panose="020F0502020204030204"/>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424178500"/>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4A2A57-DD9B-2ED9-6B88-018A115C7F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2C9F1EA-FB5E-6070-BC4F-236B15871AC5}"/>
              </a:ext>
            </a:extLst>
          </p:cNvPr>
          <p:cNvSpPr txBox="1">
            <a:spLocks/>
          </p:cNvSpPr>
          <p:nvPr/>
        </p:nvSpPr>
        <p:spPr>
          <a:xfrm>
            <a:off x="198567" y="-922876"/>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2400" b="1" u="sng" dirty="0">
                <a:latin typeface="Calibri" panose="020F0502020204030204" pitchFamily="34" charset="0"/>
                <a:ea typeface="Calibri" panose="020F0502020204030204" pitchFamily="34" charset="0"/>
                <a:cs typeface="Calibri" panose="020F0502020204030204" pitchFamily="34" charset="0"/>
              </a:rPr>
              <a:t>Individualised risk prediction through multivariable models</a:t>
            </a:r>
          </a:p>
        </p:txBody>
      </p:sp>
      <p:sp>
        <p:nvSpPr>
          <p:cNvPr id="10" name="TextBox 9">
            <a:extLst>
              <a:ext uri="{FF2B5EF4-FFF2-40B4-BE49-F238E27FC236}">
                <a16:creationId xmlns:a16="http://schemas.microsoft.com/office/drawing/2014/main" id="{61AB18C4-F23E-C836-1D7D-A9FD9C58C4AF}"/>
              </a:ext>
            </a:extLst>
          </p:cNvPr>
          <p:cNvSpPr txBox="1"/>
          <p:nvPr/>
        </p:nvSpPr>
        <p:spPr>
          <a:xfrm>
            <a:off x="198567" y="636165"/>
            <a:ext cx="11512170" cy="11818620"/>
          </a:xfrm>
          <a:prstGeom prst="rect">
            <a:avLst/>
          </a:prstGeom>
          <a:noFill/>
        </p:spPr>
        <p:txBody>
          <a:bodyPr wrap="square" rtlCol="0">
            <a:spAutoFit/>
          </a:bodyPr>
          <a:lstStyle/>
          <a:p>
            <a:pPr marL="285750" lvl="0" indent="-285750" defTabSz="457200">
              <a:buFont typeface="Arial" panose="020B0604020202020204" pitchFamily="34" charset="0"/>
              <a:buChar char="•"/>
              <a:defRPr/>
            </a:pPr>
            <a:r>
              <a:rPr lang="en-GB" dirty="0">
                <a:solidFill>
                  <a:prstClr val="black"/>
                </a:solidFill>
                <a:latin typeface="Calibri" panose="020F0502020204030204"/>
              </a:rPr>
              <a:t>Prediction models may provide many other things aside from absolute risk predictions :</a:t>
            </a:r>
          </a:p>
          <a:p>
            <a:pPr marL="742950" lvl="1" indent="-285750" defTabSz="457200">
              <a:buFont typeface="Arial" panose="020B0604020202020204" pitchFamily="34" charset="0"/>
              <a:buChar char="•"/>
              <a:defRPr/>
            </a:pPr>
            <a:r>
              <a:rPr lang="en-GB" dirty="0">
                <a:solidFill>
                  <a:prstClr val="black"/>
                </a:solidFill>
                <a:latin typeface="Calibri" panose="020F0502020204030204"/>
              </a:rPr>
              <a:t>Population-level summaries and predictions – </a:t>
            </a:r>
            <a:r>
              <a:rPr lang="en-GB" i="1" dirty="0">
                <a:solidFill>
                  <a:prstClr val="black"/>
                </a:solidFill>
                <a:latin typeface="Calibri" panose="020F0502020204030204"/>
              </a:rPr>
              <a:t>birth rates, death rates.  </a:t>
            </a:r>
          </a:p>
          <a:p>
            <a:pPr marL="742950" lvl="1" indent="-285750" defTabSz="457200">
              <a:buFont typeface="Arial" panose="020B0604020202020204" pitchFamily="34" charset="0"/>
              <a:buChar char="•"/>
              <a:defRPr/>
            </a:pPr>
            <a:r>
              <a:rPr lang="en-GB" dirty="0">
                <a:solidFill>
                  <a:prstClr val="black"/>
                </a:solidFill>
                <a:latin typeface="Calibri" panose="020F0502020204030204"/>
              </a:rPr>
              <a:t>Whether a prognostic factor is causal </a:t>
            </a:r>
          </a:p>
          <a:p>
            <a:pPr marL="742950" lvl="1" indent="-285750" defTabSz="457200">
              <a:buFont typeface="Arial" panose="020B0604020202020204" pitchFamily="34" charset="0"/>
              <a:buChar char="•"/>
              <a:defRPr/>
            </a:pPr>
            <a:r>
              <a:rPr lang="en-GB" dirty="0">
                <a:solidFill>
                  <a:prstClr val="black"/>
                </a:solidFill>
                <a:latin typeface="Calibri" panose="020F0502020204030204"/>
              </a:rPr>
              <a:t>Individual-level predictors of interactions with different treatment regimes. </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lang="en-GB" dirty="0">
                <a:solidFill>
                  <a:prstClr val="black"/>
                </a:solidFill>
                <a:latin typeface="Calibri" panose="020F0502020204030204"/>
              </a:rPr>
              <a:t>Multivariable= multiple predictors.</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lang="en-GB" dirty="0">
                <a:solidFill>
                  <a:prstClr val="black"/>
                </a:solidFill>
              </a:rPr>
              <a:t>“…</a:t>
            </a:r>
            <a:r>
              <a:rPr lang="en-GB" i="1" dirty="0">
                <a:solidFill>
                  <a:prstClr val="black"/>
                </a:solidFill>
              </a:rPr>
              <a:t>sociodemographic, geographic, clinical characteristics, patient self-management ability and healthcare service utilisation</a:t>
            </a:r>
            <a:r>
              <a:rPr lang="en-GB" dirty="0">
                <a:solidFill>
                  <a:prstClr val="black"/>
                </a:solidFill>
              </a:rPr>
              <a:t>)…” – Neves et al., T2 Diabetes WSIC-model</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lang="en-GB" b="1" dirty="0">
                <a:solidFill>
                  <a:prstClr val="black"/>
                </a:solidFill>
                <a:latin typeface="Calibri" panose="020F0502020204030204"/>
              </a:rPr>
              <a:t>Directive</a:t>
            </a:r>
            <a:r>
              <a:rPr lang="en-GB" dirty="0">
                <a:solidFill>
                  <a:prstClr val="black"/>
                </a:solidFill>
                <a:latin typeface="Calibri" panose="020F0502020204030204"/>
              </a:rPr>
              <a:t> prediction models, linked to clinical decisions – </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If risk of recurrence of venous thromboembolism (blood clots in a vein) is above a threshold (like 5%), may keep patients on anti-coagulation therapy like warfarin (Ensor et al., 2016)</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If risk of hypocalcaemia (blood calcium levels too low) by 48 hours is low following a thyroidectomy (remove part of or all of the thyroid), may send patient home early (Noordzij et al., 2007). </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lang="en-GB" b="1" dirty="0">
                <a:solidFill>
                  <a:prstClr val="black"/>
                </a:solidFill>
                <a:latin typeface="Calibri" panose="020F0502020204030204"/>
              </a:rPr>
              <a:t>Passive</a:t>
            </a:r>
            <a:r>
              <a:rPr lang="en-GB" dirty="0">
                <a:solidFill>
                  <a:prstClr val="black"/>
                </a:solidFill>
                <a:latin typeface="Calibri" panose="020F0502020204030204"/>
              </a:rPr>
              <a:t> prediction models – patient counselling or research. </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endParaRPr lang="en-GB" i="1"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dirty="0">
              <a:solidFill>
                <a:prstClr val="black"/>
              </a:solidFill>
            </a:endParaRPr>
          </a:p>
          <a:p>
            <a:pPr marL="285750" lvl="0" indent="-285750" defTabSz="457200">
              <a:buFont typeface="Arial" panose="020B0604020202020204" pitchFamily="34" charset="0"/>
              <a:buChar char="•"/>
              <a:defRPr/>
            </a:pPr>
            <a:endParaRPr lang="en-GB" sz="2200" dirty="0">
              <a:solidFill>
                <a:prstClr val="black"/>
              </a:solidFill>
            </a:endParaRPr>
          </a:p>
          <a:p>
            <a:pPr marL="285750" lvl="0" indent="-285750" defTabSz="457200">
              <a:buFont typeface="Arial" panose="020B0604020202020204" pitchFamily="34" charset="0"/>
              <a:buChar char="•"/>
              <a:defRPr/>
            </a:pPr>
            <a:endParaRPr lang="en-GB" sz="22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lang="en-GB" sz="2400" dirty="0">
              <a:solidFill>
                <a:prstClr val="black"/>
              </a:solidFill>
            </a:endParaRPr>
          </a:p>
          <a:p>
            <a:pPr marL="285750" lvl="0" indent="-285750" defTabSz="457200">
              <a:buFont typeface="Arial" panose="020B0604020202020204" pitchFamily="34" charset="0"/>
              <a:buChar char="•"/>
              <a:defRPr/>
            </a:pPr>
            <a:endParaRPr kumimoji="0" lang="en-GB" sz="2400" b="0" i="0" u="none" strike="noStrike" kern="1200" cap="none" spc="0" normalizeH="0" noProof="0" dirty="0">
              <a:ln>
                <a:noFill/>
              </a:ln>
              <a:solidFill>
                <a:prstClr val="black"/>
              </a:solidFill>
              <a:effectLst/>
              <a:uLnTx/>
              <a:uFillTx/>
              <a:latin typeface="Calibri" panose="020F0502020204030204"/>
            </a:endParaRPr>
          </a:p>
          <a:p>
            <a:pPr marL="285750" lvl="0" indent="-285750" defTabSz="457200">
              <a:buFont typeface="Arial" panose="020B0604020202020204" pitchFamily="34" charset="0"/>
              <a:buChar char="•"/>
              <a:defRPr/>
            </a:pPr>
            <a:endParaRPr kumimoji="0" lang="en-GB" sz="2400" b="0" i="0" u="none" strike="noStrike" kern="1200" cap="none" spc="0" normalizeH="0" noProof="0" dirty="0">
              <a:ln>
                <a:noFill/>
              </a:ln>
              <a:solidFill>
                <a:prstClr val="black"/>
              </a:solidFill>
              <a:effectLst/>
              <a:uLnTx/>
              <a:uFillTx/>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2000" baseline="0" dirty="0">
              <a:solidFill>
                <a:prstClr val="black"/>
              </a:solidFill>
              <a:latin typeface="Calibri" panose="020F0502020204030204"/>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65704640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B4F89D-5883-D5F8-0762-A0A5B52F4981}"/>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706813E-F3CD-C620-00A3-1370DD18973C}"/>
              </a:ext>
            </a:extLst>
          </p:cNvPr>
          <p:cNvPicPr>
            <a:picLocks noChangeAspect="1"/>
          </p:cNvPicPr>
          <p:nvPr/>
        </p:nvPicPr>
        <p:blipFill>
          <a:blip r:embed="rId4"/>
          <a:srcRect b="499"/>
          <a:stretch>
            <a:fillRect/>
          </a:stretch>
        </p:blipFill>
        <p:spPr>
          <a:xfrm>
            <a:off x="1759192" y="366749"/>
            <a:ext cx="8261108" cy="5807029"/>
          </a:xfrm>
          <a:prstGeom prst="rect">
            <a:avLst/>
          </a:prstGeom>
        </p:spPr>
      </p:pic>
    </p:spTree>
    <p:custDataLst>
      <p:tags r:id="rId1"/>
    </p:custDataLst>
    <p:extLst>
      <p:ext uri="{BB962C8B-B14F-4D97-AF65-F5344CB8AC3E}">
        <p14:creationId xmlns:p14="http://schemas.microsoft.com/office/powerpoint/2010/main" val="53009042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56DF26-A6DC-C47B-89FB-A46A37E9C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9C728-F74C-8EF6-AF7E-63091E76B160}"/>
              </a:ext>
            </a:extLst>
          </p:cNvPr>
          <p:cNvSpPr>
            <a:spLocks noGrp="1"/>
          </p:cNvSpPr>
          <p:nvPr>
            <p:ph type="title"/>
          </p:nvPr>
        </p:nvSpPr>
        <p:spPr>
          <a:xfrm>
            <a:off x="0" y="-1013946"/>
            <a:ext cx="11794866" cy="1450757"/>
          </a:xfrm>
        </p:spPr>
        <p:txBody>
          <a:bodyPr>
            <a:normAutofit/>
          </a:bodyPr>
          <a:lstStyle/>
          <a:p>
            <a:r>
              <a:rPr lang="en-GB" sz="2400" b="1" u="sng" dirty="0">
                <a:latin typeface="+mn-lt"/>
              </a:rPr>
              <a:t>Survival Analysis – Cox-Regression Modelling</a:t>
            </a:r>
          </a:p>
        </p:txBody>
      </p:sp>
      <p:pic>
        <p:nvPicPr>
          <p:cNvPr id="13" name="Picture 12">
            <a:extLst>
              <a:ext uri="{FF2B5EF4-FFF2-40B4-BE49-F238E27FC236}">
                <a16:creationId xmlns:a16="http://schemas.microsoft.com/office/drawing/2014/main" id="{096E1ECF-300D-36B6-3514-59F671B1B706}"/>
              </a:ext>
            </a:extLst>
          </p:cNvPr>
          <p:cNvPicPr>
            <a:picLocks noChangeAspect="1"/>
          </p:cNvPicPr>
          <p:nvPr/>
        </p:nvPicPr>
        <p:blipFill>
          <a:blip r:embed="rId4"/>
          <a:stretch>
            <a:fillRect/>
          </a:stretch>
        </p:blipFill>
        <p:spPr>
          <a:xfrm>
            <a:off x="531050" y="778091"/>
            <a:ext cx="11263816" cy="5597309"/>
          </a:xfrm>
          <a:prstGeom prst="rect">
            <a:avLst/>
          </a:prstGeom>
        </p:spPr>
      </p:pic>
    </p:spTree>
    <p:custDataLst>
      <p:tags r:id="rId1"/>
    </p:custDataLst>
    <p:extLst>
      <p:ext uri="{BB962C8B-B14F-4D97-AF65-F5344CB8AC3E}">
        <p14:creationId xmlns:p14="http://schemas.microsoft.com/office/powerpoint/2010/main" val="189120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16A025A-1FC4-0E19-B0CE-27271F24DA8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85B531E6-4806-E5CB-561D-EA96910D66EA}"/>
              </a:ext>
            </a:extLst>
          </p:cNvPr>
          <p:cNvPicPr>
            <a:picLocks noChangeAspect="1"/>
          </p:cNvPicPr>
          <p:nvPr/>
        </p:nvPicPr>
        <p:blipFill>
          <a:blip r:embed="rId4"/>
          <a:stretch>
            <a:fillRect/>
          </a:stretch>
        </p:blipFill>
        <p:spPr>
          <a:xfrm>
            <a:off x="323608" y="280193"/>
            <a:ext cx="6280392" cy="5383193"/>
          </a:xfrm>
          <a:prstGeom prst="rect">
            <a:avLst/>
          </a:prstGeom>
        </p:spPr>
      </p:pic>
      <p:pic>
        <p:nvPicPr>
          <p:cNvPr id="18" name="Picture 17">
            <a:extLst>
              <a:ext uri="{FF2B5EF4-FFF2-40B4-BE49-F238E27FC236}">
                <a16:creationId xmlns:a16="http://schemas.microsoft.com/office/drawing/2014/main" id="{0B768604-B4A9-E04D-9614-EA8CAAD7A25B}"/>
              </a:ext>
            </a:extLst>
          </p:cNvPr>
          <p:cNvPicPr>
            <a:picLocks noChangeAspect="1"/>
          </p:cNvPicPr>
          <p:nvPr/>
        </p:nvPicPr>
        <p:blipFill>
          <a:blip r:embed="rId5"/>
          <a:stretch>
            <a:fillRect/>
          </a:stretch>
        </p:blipFill>
        <p:spPr>
          <a:xfrm>
            <a:off x="6851110" y="1466882"/>
            <a:ext cx="4688454" cy="4415016"/>
          </a:xfrm>
          <a:prstGeom prst="rect">
            <a:avLst/>
          </a:prstGeom>
        </p:spPr>
      </p:pic>
      <p:sp>
        <p:nvSpPr>
          <p:cNvPr id="20" name="TextBox 19">
            <a:extLst>
              <a:ext uri="{FF2B5EF4-FFF2-40B4-BE49-F238E27FC236}">
                <a16:creationId xmlns:a16="http://schemas.microsoft.com/office/drawing/2014/main" id="{0FF96417-B660-EACB-08C8-BF1BFB09950C}"/>
              </a:ext>
            </a:extLst>
          </p:cNvPr>
          <p:cNvSpPr txBox="1"/>
          <p:nvPr/>
        </p:nvSpPr>
        <p:spPr>
          <a:xfrm>
            <a:off x="323608" y="5663386"/>
            <a:ext cx="609600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hlinkClick r:id="rId6"/>
              </a:rPr>
              <a:t>https://isaric4c.net/risk/4c/</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285750" lvl="0" indent="-285750">
              <a:buFont typeface="Arial" panose="020B0604020202020204" pitchFamily="34" charset="0"/>
              <a:buChar char="•"/>
              <a:defRPr/>
            </a:pPr>
            <a:r>
              <a:rPr lang="en-GB" dirty="0"/>
              <a:t>https://www.mdcalc.com/calc/10338/4c-mortality-score-covid-19</a:t>
            </a:r>
          </a:p>
        </p:txBody>
      </p:sp>
      <p:sp>
        <p:nvSpPr>
          <p:cNvPr id="21" name="TextBox 20">
            <a:extLst>
              <a:ext uri="{FF2B5EF4-FFF2-40B4-BE49-F238E27FC236}">
                <a16:creationId xmlns:a16="http://schemas.microsoft.com/office/drawing/2014/main" id="{028F7860-E7C1-5644-E26D-5F8DA434E8F3}"/>
              </a:ext>
            </a:extLst>
          </p:cNvPr>
          <p:cNvSpPr txBox="1"/>
          <p:nvPr/>
        </p:nvSpPr>
        <p:spPr>
          <a:xfrm>
            <a:off x="6851110" y="543552"/>
            <a:ext cx="5582190" cy="923330"/>
          </a:xfrm>
          <a:prstGeom prst="rect">
            <a:avLst/>
          </a:prstGeom>
          <a:noFill/>
        </p:spPr>
        <p:txBody>
          <a:bodyPr wrap="square">
            <a:spAutoFit/>
          </a:bodyPr>
          <a:lstStyle/>
          <a:p>
            <a:r>
              <a:rPr lang="en-GB" b="1" dirty="0"/>
              <a:t>Nomogram prediction for overall survival of patients diagnosed with cervical cancer </a:t>
            </a:r>
            <a:r>
              <a:rPr lang="en-GB" i="1" dirty="0"/>
              <a:t>(</a:t>
            </a:r>
            <a:r>
              <a:rPr lang="en-GB" i="1" dirty="0" err="1"/>
              <a:t>Polterauer</a:t>
            </a:r>
            <a:r>
              <a:rPr lang="en-GB" i="1" dirty="0"/>
              <a:t> et al., 2012)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p>
        </p:txBody>
      </p:sp>
    </p:spTree>
    <p:custDataLst>
      <p:tags r:id="rId1"/>
    </p:custDataLst>
    <p:extLst>
      <p:ext uri="{BB962C8B-B14F-4D97-AF65-F5344CB8AC3E}">
        <p14:creationId xmlns:p14="http://schemas.microsoft.com/office/powerpoint/2010/main" val="37599508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11867B-B9DF-4A25-0994-AE36AF6AF0F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4244DDC-3CDE-567B-91C9-776ED6019B78}"/>
              </a:ext>
            </a:extLst>
          </p:cNvPr>
          <p:cNvSpPr txBox="1">
            <a:spLocks/>
          </p:cNvSpPr>
          <p:nvPr/>
        </p:nvSpPr>
        <p:spPr>
          <a:xfrm>
            <a:off x="198567" y="-922876"/>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Prediction Model Requirements</a:t>
            </a:r>
          </a:p>
        </p:txBody>
      </p:sp>
      <p:sp>
        <p:nvSpPr>
          <p:cNvPr id="10" name="TextBox 9">
            <a:extLst>
              <a:ext uri="{FF2B5EF4-FFF2-40B4-BE49-F238E27FC236}">
                <a16:creationId xmlns:a16="http://schemas.microsoft.com/office/drawing/2014/main" id="{53B76D3C-A72C-5305-EE24-C7DED4610357}"/>
              </a:ext>
            </a:extLst>
          </p:cNvPr>
          <p:cNvSpPr txBox="1"/>
          <p:nvPr/>
        </p:nvSpPr>
        <p:spPr>
          <a:xfrm>
            <a:off x="0" y="686965"/>
            <a:ext cx="6405433" cy="11541621"/>
          </a:xfrm>
          <a:prstGeom prst="rect">
            <a:avLst/>
          </a:prstGeom>
          <a:noFill/>
        </p:spPr>
        <p:txBody>
          <a:bodyPr wrap="square" rtlCol="0">
            <a:spAutoFit/>
          </a:bodyPr>
          <a:lstStyle/>
          <a:p>
            <a:pPr marL="285750"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Predicted risks should be accurate and clinically useful</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Does a model give predicted risks that - </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Calibrate closely with observed risks?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a:t>
            </a:r>
            <a:r>
              <a:rPr kumimoji="0" lang="en-GB" b="1"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Use a calibration plot</a:t>
            </a:r>
            <a:endParaRPr kumimoji="0" lang="en-GB" b="1"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Discriminate those who do and do not develop the outcome?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a:t>
            </a:r>
            <a:r>
              <a:rPr kumimoji="0" lang="en-GB" b="1"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Assess performance through the C-statistics/AUC</a:t>
            </a:r>
            <a:endParaRPr kumimoji="0" lang="en-GB" b="1"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Provide clinical utility to guide clinical decisions?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a:t>
            </a: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Decision Curve Analysis</a:t>
            </a:r>
            <a:endParaRPr kumimoji="0" lang="en-GB"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Have the models been shown to work in the intended populations and settings of interest? </a:t>
            </a: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Validate in external datasets from target populations</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Does the model have beneficial impacts on clinical practice when rolled out? </a:t>
            </a: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Test in randomised controlled trials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286CCED1-7616-D316-67A1-5B698811108D}"/>
              </a:ext>
            </a:extLst>
          </p:cNvPr>
          <p:cNvPicPr>
            <a:picLocks noChangeAspect="1"/>
          </p:cNvPicPr>
          <p:nvPr/>
        </p:nvPicPr>
        <p:blipFill>
          <a:blip r:embed="rId4"/>
          <a:stretch>
            <a:fillRect/>
          </a:stretch>
        </p:blipFill>
        <p:spPr>
          <a:xfrm>
            <a:off x="6646742" y="821268"/>
            <a:ext cx="2013103" cy="1943686"/>
          </a:xfrm>
          <a:prstGeom prst="rect">
            <a:avLst/>
          </a:prstGeom>
        </p:spPr>
      </p:pic>
      <p:pic>
        <p:nvPicPr>
          <p:cNvPr id="8" name="Picture 7">
            <a:extLst>
              <a:ext uri="{FF2B5EF4-FFF2-40B4-BE49-F238E27FC236}">
                <a16:creationId xmlns:a16="http://schemas.microsoft.com/office/drawing/2014/main" id="{B64AB101-494A-316B-B5F4-C81C81418FC6}"/>
              </a:ext>
            </a:extLst>
          </p:cNvPr>
          <p:cNvPicPr>
            <a:picLocks noChangeAspect="1"/>
          </p:cNvPicPr>
          <p:nvPr/>
        </p:nvPicPr>
        <p:blipFill>
          <a:blip r:embed="rId5">
            <a:extLst>
              <a:ext uri="{28A0092B-C50C-407E-A947-70E740481C1C}">
                <a14:useLocalDpi xmlns:a14="http://schemas.microsoft.com/office/drawing/2010/main" val="0"/>
              </a:ext>
            </a:extLst>
          </a:blip>
          <a:srcRect l="8794" t="5614" r="4055" b="2924"/>
          <a:stretch>
            <a:fillRect/>
          </a:stretch>
        </p:blipFill>
        <p:spPr>
          <a:xfrm>
            <a:off x="8901154" y="962246"/>
            <a:ext cx="3290845" cy="1943686"/>
          </a:xfrm>
          <a:prstGeom prst="rect">
            <a:avLst/>
          </a:prstGeom>
        </p:spPr>
      </p:pic>
      <p:pic>
        <p:nvPicPr>
          <p:cNvPr id="11" name="Picture 10">
            <a:extLst>
              <a:ext uri="{FF2B5EF4-FFF2-40B4-BE49-F238E27FC236}">
                <a16:creationId xmlns:a16="http://schemas.microsoft.com/office/drawing/2014/main" id="{96B08F48-5607-3E9A-1030-0BA8FF33A6A6}"/>
              </a:ext>
            </a:extLst>
          </p:cNvPr>
          <p:cNvPicPr>
            <a:picLocks noChangeAspect="1"/>
          </p:cNvPicPr>
          <p:nvPr/>
        </p:nvPicPr>
        <p:blipFill>
          <a:blip r:embed="rId6"/>
          <a:stretch>
            <a:fillRect/>
          </a:stretch>
        </p:blipFill>
        <p:spPr>
          <a:xfrm>
            <a:off x="6283659" y="3429000"/>
            <a:ext cx="2995945" cy="2099797"/>
          </a:xfrm>
          <a:prstGeom prst="rect">
            <a:avLst/>
          </a:prstGeom>
        </p:spPr>
      </p:pic>
      <p:pic>
        <p:nvPicPr>
          <p:cNvPr id="13" name="Picture 12">
            <a:extLst>
              <a:ext uri="{FF2B5EF4-FFF2-40B4-BE49-F238E27FC236}">
                <a16:creationId xmlns:a16="http://schemas.microsoft.com/office/drawing/2014/main" id="{ED091A88-7D01-DB7B-D773-5DACAA127C05}"/>
              </a:ext>
            </a:extLst>
          </p:cNvPr>
          <p:cNvPicPr>
            <a:picLocks noChangeAspect="1"/>
          </p:cNvPicPr>
          <p:nvPr/>
        </p:nvPicPr>
        <p:blipFill>
          <a:blip r:embed="rId7"/>
          <a:stretch>
            <a:fillRect/>
          </a:stretch>
        </p:blipFill>
        <p:spPr>
          <a:xfrm>
            <a:off x="9666972" y="3429000"/>
            <a:ext cx="2162477" cy="2467319"/>
          </a:xfrm>
          <a:prstGeom prst="rect">
            <a:avLst/>
          </a:prstGeom>
        </p:spPr>
      </p:pic>
    </p:spTree>
    <p:custDataLst>
      <p:tags r:id="rId1"/>
    </p:custDataLst>
    <p:extLst>
      <p:ext uri="{BB962C8B-B14F-4D97-AF65-F5344CB8AC3E}">
        <p14:creationId xmlns:p14="http://schemas.microsoft.com/office/powerpoint/2010/main" val="61265290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92B9AE-FC4C-AB99-2401-F3723738564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85A69EE-B102-C0A6-3D01-C4AFDFE4F1BA}"/>
              </a:ext>
            </a:extLst>
          </p:cNvPr>
          <p:cNvSpPr txBox="1">
            <a:spLocks/>
          </p:cNvSpPr>
          <p:nvPr/>
        </p:nvSpPr>
        <p:spPr>
          <a:xfrm>
            <a:off x="198567" y="-7253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in primary care based on electronic health record data’</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 Wang et al., 2024 – Background</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45F0A51C-F806-31F0-B975-5BFCB4DFDB15}"/>
              </a:ext>
            </a:extLst>
          </p:cNvPr>
          <p:cNvSpPr txBox="1"/>
          <p:nvPr/>
        </p:nvSpPr>
        <p:spPr>
          <a:xfrm>
            <a:off x="91263" y="725378"/>
            <a:ext cx="12009474" cy="11818620"/>
          </a:xfrm>
          <a:prstGeom prst="rect">
            <a:avLst/>
          </a:prstGeom>
          <a:noFill/>
        </p:spPr>
        <p:txBody>
          <a:bodyPr wrap="square" rtlCol="0">
            <a:spAutoFit/>
          </a:bodyPr>
          <a:lstStyle/>
          <a:p>
            <a:pPr marL="285750" lvl="0"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Present models have ‘Positive Predictive Values’ (PPVs) (</a:t>
            </a:r>
            <a:r>
              <a:rPr lang="en-GB" dirty="0"/>
              <a:t>probability that a positive test result is a true positive)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of less than 10%.</a:t>
            </a:r>
            <a:r>
              <a:rPr lang="en-GB" dirty="0">
                <a:solidFill>
                  <a:prstClr val="black"/>
                </a:solidFill>
                <a:latin typeface="Calibri" panose="020F0502020204030204"/>
              </a:rPr>
              <a:t>In the UK, annually, 45,000 patients are diagnosed with lung cancer – only 1/3 at an early stage (I-II), contributing to an age-standardised 5-year cancer survival rate of 21%.</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Only 4% of patients present in primary care with a ‘red flag’ symptom like haemoptysis (coughing blood from part of the lungs) but rather a cough, weight lost. </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Models don’t consider the temporal evolution of EHR codes (symptoms) leading up to lung cancer </a:t>
            </a:r>
            <a:r>
              <a:rPr lang="en-GB" dirty="0" err="1">
                <a:solidFill>
                  <a:prstClr val="black"/>
                </a:solidFill>
                <a:latin typeface="Calibri" panose="020F0502020204030204"/>
              </a:rPr>
              <a:t>diagnosis.Current</a:t>
            </a:r>
            <a:r>
              <a:rPr lang="en-GB" dirty="0">
                <a:solidFill>
                  <a:prstClr val="black"/>
                </a:solidFill>
                <a:latin typeface="Calibri" panose="020F0502020204030204"/>
              </a:rPr>
              <a:t> models either: ID prevalent risk factors like age, smoking history; or utilise incident symptoms to use in diagnosis of suspected cancer.  Systematic review of incident symptoms found the greatest DOR in haemoptysis 6.39(3.32 – 12.28), dyspnoea (shortness of breath) 2.73 (1.54 – 4.85), and cough 2.64(1.24 – 5.64) (Okoli et al., 2018).  </a:t>
            </a:r>
          </a:p>
          <a:p>
            <a:pPr lvl="0" defTabSz="457200">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Current predictions models like </a:t>
            </a:r>
            <a:r>
              <a:rPr lang="en-GB" dirty="0" err="1">
                <a:solidFill>
                  <a:prstClr val="black"/>
                </a:solidFill>
                <a:latin typeface="Calibri" panose="020F0502020204030204"/>
              </a:rPr>
              <a:t>QCancer</a:t>
            </a:r>
            <a:r>
              <a:rPr lang="en-GB" dirty="0">
                <a:solidFill>
                  <a:prstClr val="black"/>
                </a:solidFill>
                <a:latin typeface="Calibri" panose="020F0502020204030204"/>
              </a:rPr>
              <a:t> Lung, are classic regression-based and don’t fully capture complex sequential relationships. </a:t>
            </a:r>
          </a:p>
          <a:p>
            <a:pPr marL="285750" lvl="0"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The sequential relationships amongst presenting symptoms, tests, and referrals will be different between lung cancer + &amp; lung cancer - .</a:t>
            </a:r>
          </a:p>
          <a:p>
            <a:pPr marL="285750" lvl="0"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Handling sequences of EHR data as an NLP problem provides different tools to use. The temporal context of our problem, e.g. long-standing cough, repeated chest infection, and persistent breathlessness means the models needs long-term memory. </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769759038"/>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F361ECF-4BB0-EE67-9F81-141050F2FD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92A9E8-8ADC-AA5E-0E5C-428AEA710C59}"/>
              </a:ext>
            </a:extLst>
          </p:cNvPr>
          <p:cNvPicPr>
            <a:picLocks noChangeAspect="1"/>
          </p:cNvPicPr>
          <p:nvPr/>
        </p:nvPicPr>
        <p:blipFill>
          <a:blip r:embed="rId4"/>
          <a:stretch>
            <a:fillRect/>
          </a:stretch>
        </p:blipFill>
        <p:spPr>
          <a:xfrm>
            <a:off x="616017" y="153244"/>
            <a:ext cx="10730430" cy="6551511"/>
          </a:xfrm>
          <a:prstGeom prst="rect">
            <a:avLst/>
          </a:prstGeom>
        </p:spPr>
      </p:pic>
    </p:spTree>
    <p:custDataLst>
      <p:tags r:id="rId1"/>
    </p:custDataLst>
    <p:extLst>
      <p:ext uri="{BB962C8B-B14F-4D97-AF65-F5344CB8AC3E}">
        <p14:creationId xmlns:p14="http://schemas.microsoft.com/office/powerpoint/2010/main" val="3769643704"/>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F9036B-9D4E-DDE8-EE3C-C538211A90B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877B9DD-7472-593F-604F-4E8E69ABD145}"/>
              </a:ext>
            </a:extLst>
          </p:cNvPr>
          <p:cNvSpPr txBox="1">
            <a:spLocks/>
          </p:cNvSpPr>
          <p:nvPr/>
        </p:nvSpPr>
        <p:spPr>
          <a:xfrm>
            <a:off x="91263" y="-98829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Neural Networks Simply Explained</a:t>
            </a:r>
            <a:endParaRPr kumimoji="0" lang="en-GB" sz="2400" b="1"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11DB08-9160-8DD7-8B1C-08D14D3A5182}"/>
              </a:ext>
            </a:extLst>
          </p:cNvPr>
          <p:cNvSpPr txBox="1"/>
          <p:nvPr/>
        </p:nvSpPr>
        <p:spPr>
          <a:xfrm>
            <a:off x="0" y="245698"/>
            <a:ext cx="4817621" cy="6001643"/>
          </a:xfrm>
          <a:prstGeom prst="rect">
            <a:avLst/>
          </a:prstGeom>
          <a:noFill/>
        </p:spPr>
        <p:txBody>
          <a:bodyPr wrap="square" rtlCol="0">
            <a:spAutoFit/>
          </a:bodyPr>
          <a:lstStyle/>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330B6B9A-0C81-607A-1D07-C6C2930778D1}"/>
              </a:ext>
            </a:extLst>
          </p:cNvPr>
          <p:cNvGrpSpPr/>
          <p:nvPr/>
        </p:nvGrpSpPr>
        <p:grpSpPr>
          <a:xfrm>
            <a:off x="322803" y="2930243"/>
            <a:ext cx="6020344" cy="3611941"/>
            <a:chOff x="281129" y="2942245"/>
            <a:chExt cx="6020344" cy="3611941"/>
          </a:xfrm>
        </p:grpSpPr>
        <p:pic>
          <p:nvPicPr>
            <p:cNvPr id="7" name="Picture 6">
              <a:extLst>
                <a:ext uri="{FF2B5EF4-FFF2-40B4-BE49-F238E27FC236}">
                  <a16:creationId xmlns:a16="http://schemas.microsoft.com/office/drawing/2014/main" id="{AEFDE691-A31E-CFED-33A7-56A03198BF15}"/>
                </a:ext>
              </a:extLst>
            </p:cNvPr>
            <p:cNvPicPr>
              <a:picLocks noChangeAspect="1"/>
            </p:cNvPicPr>
            <p:nvPr/>
          </p:nvPicPr>
          <p:blipFill>
            <a:blip r:embed="rId4"/>
            <a:stretch>
              <a:fillRect/>
            </a:stretch>
          </p:blipFill>
          <p:spPr>
            <a:xfrm>
              <a:off x="361464" y="2942245"/>
              <a:ext cx="5859674" cy="3458053"/>
            </a:xfrm>
            <a:prstGeom prst="rect">
              <a:avLst/>
            </a:prstGeom>
          </p:spPr>
        </p:pic>
        <p:sp>
          <p:nvSpPr>
            <p:cNvPr id="8" name="TextBox 7">
              <a:extLst>
                <a:ext uri="{FF2B5EF4-FFF2-40B4-BE49-F238E27FC236}">
                  <a16:creationId xmlns:a16="http://schemas.microsoft.com/office/drawing/2014/main" id="{265D693F-2ED3-2987-4226-FB262AE6531D}"/>
                </a:ext>
              </a:extLst>
            </p:cNvPr>
            <p:cNvSpPr txBox="1"/>
            <p:nvPr/>
          </p:nvSpPr>
          <p:spPr>
            <a:xfrm>
              <a:off x="281129" y="6246409"/>
              <a:ext cx="6020344" cy="307777"/>
            </a:xfrm>
            <a:prstGeom prst="rect">
              <a:avLst/>
            </a:prstGeom>
            <a:noFill/>
          </p:spPr>
          <p:txBody>
            <a:bodyPr wrap="square" rtlCol="0">
              <a:spAutoFit/>
            </a:bodyPr>
            <a:lstStyle/>
            <a:p>
              <a:r>
                <a:rPr lang="en-GB" sz="1400" dirty="0"/>
                <a:t>https://www.alation.com/blog/what-is-a-neural-network/</a:t>
              </a:r>
            </a:p>
          </p:txBody>
        </p:sp>
      </p:grpSp>
      <p:grpSp>
        <p:nvGrpSpPr>
          <p:cNvPr id="18" name="Group 17">
            <a:extLst>
              <a:ext uri="{FF2B5EF4-FFF2-40B4-BE49-F238E27FC236}">
                <a16:creationId xmlns:a16="http://schemas.microsoft.com/office/drawing/2014/main" id="{A0099D81-823C-76D7-04DD-9B189B5A7637}"/>
              </a:ext>
            </a:extLst>
          </p:cNvPr>
          <p:cNvGrpSpPr/>
          <p:nvPr/>
        </p:nvGrpSpPr>
        <p:grpSpPr>
          <a:xfrm>
            <a:off x="6887769" y="0"/>
            <a:ext cx="6291887" cy="3458053"/>
            <a:chOff x="91263" y="3312186"/>
            <a:chExt cx="6020344" cy="3309507"/>
          </a:xfrm>
        </p:grpSpPr>
        <p:sp>
          <p:nvSpPr>
            <p:cNvPr id="4" name="TextBox 3">
              <a:extLst>
                <a:ext uri="{FF2B5EF4-FFF2-40B4-BE49-F238E27FC236}">
                  <a16:creationId xmlns:a16="http://schemas.microsoft.com/office/drawing/2014/main" id="{7AC91237-BB8B-DC5D-244D-BF9100B7A89A}"/>
                </a:ext>
              </a:extLst>
            </p:cNvPr>
            <p:cNvSpPr txBox="1"/>
            <p:nvPr/>
          </p:nvSpPr>
          <p:spPr>
            <a:xfrm>
              <a:off x="91263" y="3312186"/>
              <a:ext cx="6020344" cy="307777"/>
            </a:xfrm>
            <a:prstGeom prst="rect">
              <a:avLst/>
            </a:prstGeom>
            <a:noFill/>
          </p:spPr>
          <p:txBody>
            <a:bodyPr wrap="square" rtlCol="0">
              <a:spAutoFit/>
            </a:bodyPr>
            <a:lstStyle/>
            <a:p>
              <a:r>
                <a:rPr lang="en-GB" sz="1400" dirty="0">
                  <a:hlinkClick r:id="rId5"/>
                </a:rPr>
                <a:t>A single neuron computes: </a:t>
              </a:r>
              <a:endParaRPr lang="en-GB" sz="1400" dirty="0"/>
            </a:p>
          </p:txBody>
        </p:sp>
        <p:pic>
          <p:nvPicPr>
            <p:cNvPr id="17" name="Picture 16">
              <a:extLst>
                <a:ext uri="{FF2B5EF4-FFF2-40B4-BE49-F238E27FC236}">
                  <a16:creationId xmlns:a16="http://schemas.microsoft.com/office/drawing/2014/main" id="{2D1E6E84-4822-E769-3A79-C7999B0A2100}"/>
                </a:ext>
              </a:extLst>
            </p:cNvPr>
            <p:cNvPicPr>
              <a:picLocks noChangeAspect="1"/>
            </p:cNvPicPr>
            <p:nvPr/>
          </p:nvPicPr>
          <p:blipFill>
            <a:blip r:embed="rId6"/>
            <a:stretch>
              <a:fillRect/>
            </a:stretch>
          </p:blipFill>
          <p:spPr>
            <a:xfrm>
              <a:off x="236326" y="3728706"/>
              <a:ext cx="3971399" cy="2892987"/>
            </a:xfrm>
            <a:prstGeom prst="rect">
              <a:avLst/>
            </a:prstGeom>
          </p:spPr>
        </p:pic>
      </p:grpSp>
      <p:pic>
        <p:nvPicPr>
          <p:cNvPr id="21" name="Picture 20">
            <a:extLst>
              <a:ext uri="{FF2B5EF4-FFF2-40B4-BE49-F238E27FC236}">
                <a16:creationId xmlns:a16="http://schemas.microsoft.com/office/drawing/2014/main" id="{DA060EA1-30B0-6564-B686-ABE3018BD896}"/>
              </a:ext>
            </a:extLst>
          </p:cNvPr>
          <p:cNvPicPr>
            <a:picLocks noChangeAspect="1"/>
          </p:cNvPicPr>
          <p:nvPr/>
        </p:nvPicPr>
        <p:blipFill>
          <a:blip r:embed="rId7"/>
          <a:stretch>
            <a:fillRect/>
          </a:stretch>
        </p:blipFill>
        <p:spPr>
          <a:xfrm>
            <a:off x="7039375" y="3749690"/>
            <a:ext cx="4662850" cy="3039378"/>
          </a:xfrm>
          <a:prstGeom prst="rect">
            <a:avLst/>
          </a:prstGeom>
        </p:spPr>
      </p:pic>
      <p:pic>
        <p:nvPicPr>
          <p:cNvPr id="25" name="Picture 24" descr="A diagram of a network&#10;&#10;AI-generated content may be incorrect.">
            <a:extLst>
              <a:ext uri="{FF2B5EF4-FFF2-40B4-BE49-F238E27FC236}">
                <a16:creationId xmlns:a16="http://schemas.microsoft.com/office/drawing/2014/main" id="{4B8AEA6B-AA72-D5EA-B6AA-F03E282F6756}"/>
              </a:ext>
            </a:extLst>
          </p:cNvPr>
          <p:cNvPicPr>
            <a:picLocks noChangeAspect="1"/>
          </p:cNvPicPr>
          <p:nvPr/>
        </p:nvPicPr>
        <p:blipFill>
          <a:blip r:embed="rId8">
            <a:extLst>
              <a:ext uri="{28A0092B-C50C-407E-A947-70E740481C1C}">
                <a14:useLocalDpi xmlns:a14="http://schemas.microsoft.com/office/drawing/2010/main" val="0"/>
              </a:ext>
            </a:extLst>
          </a:blip>
          <a:srcRect l="14054" t="22683" r="14138" b="13592"/>
          <a:stretch>
            <a:fillRect/>
          </a:stretch>
        </p:blipFill>
        <p:spPr>
          <a:xfrm>
            <a:off x="855004" y="610659"/>
            <a:ext cx="4955941" cy="2477816"/>
          </a:xfrm>
          <a:prstGeom prst="rect">
            <a:avLst/>
          </a:prstGeom>
        </p:spPr>
      </p:pic>
    </p:spTree>
    <p:custDataLst>
      <p:tags r:id="rId1"/>
    </p:custDataLst>
    <p:extLst>
      <p:ext uri="{BB962C8B-B14F-4D97-AF65-F5344CB8AC3E}">
        <p14:creationId xmlns:p14="http://schemas.microsoft.com/office/powerpoint/2010/main" val="2486569995"/>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A8271D6-423A-41B5-0391-951AA277B06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63DD165-00E8-648C-90E3-2BE5884AABC7}"/>
              </a:ext>
            </a:extLst>
          </p:cNvPr>
          <p:cNvSpPr txBox="1">
            <a:spLocks/>
          </p:cNvSpPr>
          <p:nvPr/>
        </p:nvSpPr>
        <p:spPr>
          <a:xfrm>
            <a:off x="91263" y="-7253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Recurrent Neural Networks</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94AAEF0-ED73-30EB-C05B-5820A652E24D}"/>
              </a:ext>
            </a:extLst>
          </p:cNvPr>
          <p:cNvSpPr txBox="1"/>
          <p:nvPr/>
        </p:nvSpPr>
        <p:spPr>
          <a:xfrm>
            <a:off x="0" y="971742"/>
            <a:ext cx="3549112" cy="11849398"/>
          </a:xfrm>
          <a:prstGeom prst="rect">
            <a:avLst/>
          </a:prstGeom>
          <a:noFill/>
        </p:spPr>
        <p:txBody>
          <a:bodyPr wrap="square" rtlCol="0">
            <a:spAutoFit/>
          </a:bodyPr>
          <a:lstStyle/>
          <a:p>
            <a:pPr marL="285750" lvl="0" indent="-285750" defTabSz="457200">
              <a:buFont typeface="Arial" panose="020B0604020202020204" pitchFamily="34" charset="0"/>
              <a:buChar char="•"/>
              <a:defRPr/>
            </a:pPr>
            <a:r>
              <a:rPr kumimoji="0" lang="en-GB" b="1" i="0" u="none" strike="noStrike" kern="1200" cap="none" spc="0" normalizeH="0" baseline="0" noProof="0" dirty="0">
                <a:ln>
                  <a:noFill/>
                </a:ln>
                <a:solidFill>
                  <a:prstClr val="black"/>
                </a:solidFill>
                <a:effectLst/>
                <a:uLnTx/>
                <a:uFillTx/>
                <a:latin typeface="Calibri" panose="020F0502020204030204"/>
                <a:ea typeface="+mn-ea"/>
                <a:cs typeface="+mn-cs"/>
              </a:rPr>
              <a:t>Recurrent Neural Network (RNN)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ANN trained on sequential, time series data to make sequential predictions. E.g. </a:t>
            </a:r>
            <a:r>
              <a:rPr lang="en-GB" dirty="0">
                <a:solidFill>
                  <a:prstClr val="black"/>
                </a:solidFill>
                <a:latin typeface="Calibri" panose="020F0502020204030204"/>
              </a:rPr>
              <a:t>Predicting heart failure. Could also be involved in natural language processing (NLP).</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RNNs differ by having “memory”, taking info. from prior inputs to influence current the current input, output. </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For example, “feeling under the weather”. The phrase only makes sense in that order. RNNs account for each word’s position, using that knowledge to predict the next word in the sequence. </a:t>
            </a:r>
          </a:p>
          <a:p>
            <a:pPr marL="285750" lvl="0" indent="-285750" defTabSz="457200">
              <a:buFont typeface="Arial" panose="020B0604020202020204" pitchFamily="34" charset="0"/>
              <a:buChar char="•"/>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C9C72DE-4C95-25B9-A569-F7C5ABF07A51}"/>
              </a:ext>
            </a:extLst>
          </p:cNvPr>
          <p:cNvPicPr>
            <a:picLocks noChangeAspect="1"/>
          </p:cNvPicPr>
          <p:nvPr/>
        </p:nvPicPr>
        <p:blipFill>
          <a:blip r:embed="rId4"/>
          <a:stretch>
            <a:fillRect/>
          </a:stretch>
        </p:blipFill>
        <p:spPr>
          <a:xfrm>
            <a:off x="3754430" y="971742"/>
            <a:ext cx="8131699" cy="4666543"/>
          </a:xfrm>
          <a:prstGeom prst="rect">
            <a:avLst/>
          </a:prstGeom>
        </p:spPr>
      </p:pic>
    </p:spTree>
    <p:custDataLst>
      <p:tags r:id="rId1"/>
    </p:custDataLst>
    <p:extLst>
      <p:ext uri="{BB962C8B-B14F-4D97-AF65-F5344CB8AC3E}">
        <p14:creationId xmlns:p14="http://schemas.microsoft.com/office/powerpoint/2010/main" val="447094196"/>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AEDC33-7AAC-1BCF-81AE-BABCE875220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E6666EF-4E1C-C17A-9FF7-A298D7D44AC3}"/>
              </a:ext>
            </a:extLst>
          </p:cNvPr>
          <p:cNvSpPr txBox="1">
            <a:spLocks/>
          </p:cNvSpPr>
          <p:nvPr/>
        </p:nvSpPr>
        <p:spPr>
          <a:xfrm>
            <a:off x="198567" y="-982053"/>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RNN Variants - Gated Recurrent Neural Networks, Long Short-Term Memory</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3C208FB-3F7D-4082-38B7-9425C12EC3D7}"/>
              </a:ext>
            </a:extLst>
          </p:cNvPr>
          <p:cNvSpPr txBox="1"/>
          <p:nvPr/>
        </p:nvSpPr>
        <p:spPr>
          <a:xfrm>
            <a:off x="1" y="468704"/>
            <a:ext cx="5165558" cy="11541621"/>
          </a:xfrm>
          <a:prstGeom prst="rect">
            <a:avLst/>
          </a:prstGeom>
          <a:noFill/>
        </p:spPr>
        <p:txBody>
          <a:bodyPr wrap="square" rtlCol="0">
            <a:spAutoFit/>
          </a:bodyPr>
          <a:lstStyle/>
          <a:p>
            <a:pPr marL="285750" lvl="0" indent="-285750" defTabSz="457200">
              <a:buFont typeface="Arial" panose="020B0604020202020204" pitchFamily="34" charset="0"/>
              <a:buChar char="•"/>
              <a:defRPr/>
            </a:pPr>
            <a:r>
              <a:rPr lang="en-GB" dirty="0">
                <a:solidFill>
                  <a:prstClr val="black"/>
                </a:solidFill>
                <a:latin typeface="Calibri" panose="020F0502020204030204"/>
              </a:rPr>
              <a:t>RNNs have problems like that of the ‘</a:t>
            </a:r>
            <a:r>
              <a:rPr lang="en-GB" b="1" i="1" dirty="0">
                <a:solidFill>
                  <a:prstClr val="black"/>
                </a:solidFill>
                <a:latin typeface="Calibri" panose="020F0502020204030204"/>
              </a:rPr>
              <a:t>Vanishing Gradient</a:t>
            </a:r>
            <a:r>
              <a:rPr lang="en-GB" dirty="0">
                <a:solidFill>
                  <a:prstClr val="black"/>
                </a:solidFill>
                <a:latin typeface="Calibri" panose="020F0502020204030204"/>
              </a:rPr>
              <a:t>’ – gradients (error signals) become very small as they’re backpropagated through many layers, causing earlier layers to learn very slowly.</a:t>
            </a: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b="1" dirty="0">
                <a:solidFill>
                  <a:prstClr val="black"/>
                </a:solidFill>
                <a:latin typeface="Calibri" panose="020F0502020204030204"/>
              </a:rPr>
              <a:t>Long Short-Term Memory (LSTM) </a:t>
            </a:r>
            <a:r>
              <a:rPr lang="en-GB" dirty="0">
                <a:solidFill>
                  <a:prstClr val="black"/>
                </a:solidFill>
                <a:latin typeface="Calibri" panose="020F0502020204030204"/>
              </a:rPr>
              <a:t>– Addresses the problem of long-term dependencies in RNNs. If the previous state influencing the current prediction is not in the recent past, the RNN may not be able to accurately predict the current state.</a:t>
            </a:r>
          </a:p>
          <a:p>
            <a:pPr marL="285750" lvl="0" indent="-285750" defTabSz="457200">
              <a:buFont typeface="Arial" panose="020B0604020202020204" pitchFamily="34" charset="0"/>
              <a:buChar char="•"/>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b="1" dirty="0">
                <a:solidFill>
                  <a:prstClr val="black"/>
                </a:solidFill>
                <a:latin typeface="Calibri" panose="020F0502020204030204"/>
              </a:rPr>
              <a:t>Gated recurrent units (GRUs) </a:t>
            </a:r>
            <a:r>
              <a:rPr lang="en-GB" dirty="0">
                <a:solidFill>
                  <a:prstClr val="black"/>
                </a:solidFill>
                <a:latin typeface="Calibri" panose="020F0502020204030204"/>
              </a:rPr>
              <a:t>– Also addresses the short-term memory problem of RNNs. A ‘quick and dirty’ spin on LSTMs – just 2 gates, reset and update, so more computationally efficient.  </a:t>
            </a:r>
          </a:p>
          <a:p>
            <a:pPr marL="285750" lvl="0" indent="-285750" defTabSz="457200">
              <a:buFont typeface="Arial" panose="020B0604020202020204" pitchFamily="34" charset="0"/>
              <a:buChar char="•"/>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Disadvantages: process data sequentially, training is slow; don’t remember long dependencies well; high computational and memory cost.</a:t>
            </a:r>
          </a:p>
          <a:p>
            <a:pPr marL="285750" lvl="0" indent="-285750" defTabSz="457200">
              <a:buFont typeface="Arial" panose="020B0604020202020204" pitchFamily="34" charset="0"/>
              <a:buChar char="•"/>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lvl="0" indent="-285750" defTabSz="457200">
              <a:buFont typeface="Arial" panose="020B0604020202020204" pitchFamily="34" charset="0"/>
              <a:buChar char="•"/>
              <a:defRPr/>
            </a:pPr>
            <a:r>
              <a:rPr lang="en-GB" dirty="0">
                <a:solidFill>
                  <a:prstClr val="black"/>
                </a:solidFill>
                <a:latin typeface="Calibri" panose="020F0502020204030204"/>
              </a:rPr>
              <a:t>Transformers are the answer!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D674F14F-ED4E-7691-9825-44E264342EBB}"/>
              </a:ext>
            </a:extLst>
          </p:cNvPr>
          <p:cNvPicPr>
            <a:picLocks noChangeAspect="1"/>
          </p:cNvPicPr>
          <p:nvPr/>
        </p:nvPicPr>
        <p:blipFill>
          <a:blip r:embed="rId4"/>
          <a:srcRect t="21432"/>
          <a:stretch>
            <a:fillRect/>
          </a:stretch>
        </p:blipFill>
        <p:spPr>
          <a:xfrm>
            <a:off x="5165559" y="710226"/>
            <a:ext cx="3095315" cy="2595899"/>
          </a:xfrm>
          <a:prstGeom prst="rect">
            <a:avLst/>
          </a:prstGeom>
        </p:spPr>
      </p:pic>
      <p:pic>
        <p:nvPicPr>
          <p:cNvPr id="8" name="Picture 7">
            <a:extLst>
              <a:ext uri="{FF2B5EF4-FFF2-40B4-BE49-F238E27FC236}">
                <a16:creationId xmlns:a16="http://schemas.microsoft.com/office/drawing/2014/main" id="{8A4C890F-4FB0-F5E9-979E-85762D411F7C}"/>
              </a:ext>
            </a:extLst>
          </p:cNvPr>
          <p:cNvPicPr>
            <a:picLocks noChangeAspect="1"/>
          </p:cNvPicPr>
          <p:nvPr/>
        </p:nvPicPr>
        <p:blipFill>
          <a:blip r:embed="rId5"/>
          <a:srcRect l="2120" b="4345"/>
          <a:stretch>
            <a:fillRect/>
          </a:stretch>
        </p:blipFill>
        <p:spPr>
          <a:xfrm>
            <a:off x="8148418" y="692559"/>
            <a:ext cx="4043581" cy="2855494"/>
          </a:xfrm>
          <a:prstGeom prst="rect">
            <a:avLst/>
          </a:prstGeom>
        </p:spPr>
      </p:pic>
      <p:pic>
        <p:nvPicPr>
          <p:cNvPr id="15" name="Picture 14" descr="A diagram of a gated recurvert unit&#10;&#10;AI-generated content may be incorrect.">
            <a:extLst>
              <a:ext uri="{FF2B5EF4-FFF2-40B4-BE49-F238E27FC236}">
                <a16:creationId xmlns:a16="http://schemas.microsoft.com/office/drawing/2014/main" id="{35E5290A-608E-E17A-208E-E326E5E9DC14}"/>
              </a:ext>
            </a:extLst>
          </p:cNvPr>
          <p:cNvPicPr>
            <a:picLocks noChangeAspect="1"/>
          </p:cNvPicPr>
          <p:nvPr/>
        </p:nvPicPr>
        <p:blipFill>
          <a:blip r:embed="rId6">
            <a:extLst>
              <a:ext uri="{28A0092B-C50C-407E-A947-70E740481C1C}">
                <a14:useLocalDpi xmlns:a14="http://schemas.microsoft.com/office/drawing/2010/main" val="0"/>
              </a:ext>
            </a:extLst>
          </a:blip>
          <a:srcRect l="16262" t="34774" r="15759" b="14955"/>
          <a:stretch>
            <a:fillRect/>
          </a:stretch>
        </p:blipFill>
        <p:spPr>
          <a:xfrm>
            <a:off x="6409100" y="4031504"/>
            <a:ext cx="3902216" cy="2419373"/>
          </a:xfrm>
          <a:prstGeom prst="rect">
            <a:avLst/>
          </a:prstGeom>
        </p:spPr>
      </p:pic>
    </p:spTree>
    <p:custDataLst>
      <p:tags r:id="rId1"/>
    </p:custDataLst>
    <p:extLst>
      <p:ext uri="{BB962C8B-B14F-4D97-AF65-F5344CB8AC3E}">
        <p14:creationId xmlns:p14="http://schemas.microsoft.com/office/powerpoint/2010/main" val="385364458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FC4CA5-F138-1967-9439-33F7ED8361D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86CBABD-928E-C1F7-69A7-897A8FAF55B7}"/>
              </a:ext>
            </a:extLst>
          </p:cNvPr>
          <p:cNvSpPr txBox="1">
            <a:spLocks/>
          </p:cNvSpPr>
          <p:nvPr/>
        </p:nvSpPr>
        <p:spPr>
          <a:xfrm>
            <a:off x="198567" y="-982053"/>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 Models</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362B8AE-0FA1-C6FA-8FCD-5AD64AAED742}"/>
              </a:ext>
            </a:extLst>
          </p:cNvPr>
          <p:cNvSpPr txBox="1"/>
          <p:nvPr/>
        </p:nvSpPr>
        <p:spPr>
          <a:xfrm>
            <a:off x="1" y="321884"/>
            <a:ext cx="11993432" cy="10987623"/>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neural network that excels at processing sequential data.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Transformer’s central feature is the ‘</a:t>
            </a:r>
            <a:r>
              <a:rPr kumimoji="0" lang="en-GB" sz="1800" b="1" i="1" u="none" strike="noStrike" kern="1200" cap="none" spc="0" normalizeH="0" baseline="0" noProof="0" dirty="0">
                <a:ln>
                  <a:noFill/>
                </a:ln>
                <a:solidFill>
                  <a:prstClr val="black"/>
                </a:solidFill>
                <a:effectLst/>
                <a:uLnTx/>
                <a:uFillTx/>
                <a:latin typeface="Calibri" panose="020F0502020204030204"/>
                <a:ea typeface="+mn-ea"/>
                <a:cs typeface="+mn-cs"/>
              </a:rPr>
              <a:t>self-attention mechanism</a:t>
            </a: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whereby they detect the relationships in the input sequence.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Unlike RNNs, the architecture of transformer models only has attention layers and standard feedforward layers.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Before transformer models, NLP tasks relied on RNNs. RNN process sequential data in a serial fashion: ingesting the input sequence one elements at a time, in a specific order. </a:t>
            </a:r>
            <a:r>
              <a:rPr kumimoji="0" lang="en-GB" sz="1800" b="0" i="0" u="sng" strike="noStrike" kern="1200" cap="none" spc="0" normalizeH="0" baseline="0" noProof="0" dirty="0">
                <a:ln>
                  <a:noFill/>
                </a:ln>
                <a:solidFill>
                  <a:prstClr val="black"/>
                </a:solidFill>
                <a:effectLst/>
                <a:uLnTx/>
                <a:uFillTx/>
                <a:latin typeface="Calibri" panose="020F0502020204030204"/>
                <a:ea typeface="+mn-ea"/>
                <a:cs typeface="+mn-cs"/>
              </a:rPr>
              <a:t>RNNs cannot properly capture long-range dependencies</a:t>
            </a:r>
            <a:r>
              <a:rPr lang="en-GB" dirty="0">
                <a:solidFill>
                  <a:prstClr val="black"/>
                </a:solidFill>
                <a:latin typeface="Calibri" panose="020F0502020204030204"/>
              </a:rPr>
              <a:t> (though LSTMs somewhat helped).</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lvl="0" indent="-285750" defTabSz="457200">
              <a:buFont typeface="Arial" panose="020B0604020202020204" pitchFamily="34" charset="0"/>
              <a:buChar char="•"/>
              <a:defRPr/>
            </a:pPr>
            <a:r>
              <a:rPr lang="en-GB" b="1" dirty="0">
                <a:solidFill>
                  <a:prstClr val="black"/>
                </a:solidFill>
              </a:rPr>
              <a:t>Attention mechanism </a:t>
            </a:r>
            <a:r>
              <a:rPr lang="en-GB" dirty="0">
                <a:solidFill>
                  <a:prstClr val="black"/>
                </a:solidFill>
              </a:rPr>
              <a:t>– algorithms that determine which parts of a sequence a model should “pay attention to”. </a:t>
            </a: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Attention mechanisms can examine an entire sequence simultaneously and make decisions about how, when to focus on time steps of the sequence.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Transformers allow for parallelisation, performing many computing steps simultaneously. </a:t>
            </a:r>
            <a:r>
              <a:rPr lang="en-GB" dirty="0">
                <a:solidFill>
                  <a:prstClr val="black"/>
                </a:solidFill>
                <a:latin typeface="Calibri" panose="020F0502020204030204"/>
              </a:rPr>
              <a:t>Transformer models can be trained on massive datasets through self-supervised learning. </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14406977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58B088B-754D-4535-E147-58273E1C4A8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9E6E8AB-1D0B-C76C-C913-D76CC22B5BE1}"/>
              </a:ext>
            </a:extLst>
          </p:cNvPr>
          <p:cNvSpPr txBox="1">
            <a:spLocks/>
          </p:cNvSpPr>
          <p:nvPr/>
        </p:nvSpPr>
        <p:spPr>
          <a:xfrm>
            <a:off x="198567" y="-982053"/>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S</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elf-attention</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8311203-46FA-B8F7-E32A-E90F2A4EF06C}"/>
              </a:ext>
            </a:extLst>
          </p:cNvPr>
          <p:cNvSpPr txBox="1"/>
          <p:nvPr/>
        </p:nvSpPr>
        <p:spPr>
          <a:xfrm>
            <a:off x="1" y="257716"/>
            <a:ext cx="11993432" cy="10987623"/>
          </a:xfrm>
          <a:prstGeom prst="rect">
            <a:avLst/>
          </a:prstGeom>
          <a:noFill/>
        </p:spPr>
        <p:txBody>
          <a:bodyPr wrap="square" rtlCol="0">
            <a:spAutoFit/>
          </a:body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r>
              <a:rPr lang="en-GB" dirty="0">
                <a:solidFill>
                  <a:prstClr val="black"/>
                </a:solidFill>
                <a:latin typeface="Calibri" panose="020F0502020204030204"/>
              </a:rPr>
              <a:t>“…</a:t>
            </a:r>
            <a:r>
              <a:rPr lang="en-GB" i="1" dirty="0">
                <a:solidFill>
                  <a:prstClr val="black"/>
                </a:solidFill>
                <a:latin typeface="Calibri" panose="020F0502020204030204"/>
              </a:rPr>
              <a:t>on Thursday, Mr Smith was seen by a respiratory consultant</a:t>
            </a:r>
            <a:r>
              <a:rPr lang="en-GB" dirty="0">
                <a:solidFill>
                  <a:prstClr val="black"/>
                </a:solidFill>
                <a:latin typeface="Calibri" panose="020F0502020204030204"/>
              </a:rPr>
              <a: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solidFill>
                  <a:prstClr val="black"/>
                </a:solidFill>
                <a:latin typeface="Calibri" panose="020F0502020204030204"/>
              </a:rPr>
              <a:t>The title “</a:t>
            </a:r>
            <a:r>
              <a:rPr lang="en-GB" i="1" dirty="0">
                <a:solidFill>
                  <a:prstClr val="black"/>
                </a:solidFill>
                <a:latin typeface="Calibri" panose="020F0502020204030204"/>
              </a:rPr>
              <a:t>Mr</a:t>
            </a:r>
            <a:r>
              <a:rPr lang="en-GB" dirty="0">
                <a:solidFill>
                  <a:prstClr val="black"/>
                </a:solidFill>
                <a:latin typeface="Calibri" panose="020F0502020204030204"/>
              </a:rPr>
              <a:t>” proceeding “</a:t>
            </a:r>
            <a:r>
              <a:rPr lang="en-GB" i="1" dirty="0">
                <a:solidFill>
                  <a:prstClr val="black"/>
                </a:solidFill>
                <a:latin typeface="Calibri" panose="020F0502020204030204"/>
              </a:rPr>
              <a:t>Smith</a:t>
            </a:r>
            <a:r>
              <a:rPr lang="en-GB" dirty="0">
                <a:solidFill>
                  <a:prstClr val="black"/>
                </a:solidFill>
                <a:latin typeface="Calibri" panose="020F0502020204030204"/>
              </a:rPr>
              <a:t>” implies this is a patient.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solidFill>
                  <a:prstClr val="black"/>
                </a:solidFill>
                <a:latin typeface="Calibri" panose="020F0502020204030204"/>
              </a:rPr>
              <a:t>“</a:t>
            </a:r>
            <a:r>
              <a:rPr lang="en-GB" i="1" dirty="0">
                <a:solidFill>
                  <a:prstClr val="black"/>
                </a:solidFill>
                <a:latin typeface="Calibri" panose="020F0502020204030204"/>
              </a:rPr>
              <a:t>respiratory</a:t>
            </a:r>
            <a:r>
              <a:rPr lang="en-GB" dirty="0">
                <a:solidFill>
                  <a:prstClr val="black"/>
                </a:solidFill>
                <a:latin typeface="Calibri" panose="020F0502020204030204"/>
              </a:rPr>
              <a:t>” proceeding consultant suggests this patient may have a serious respiratory, so this sentence is important perhaps in finding lung cancer + patients.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solidFill>
                  <a:prstClr val="black"/>
                </a:solidFill>
                <a:latin typeface="Calibri" panose="020F0502020204030204"/>
              </a:rPr>
              <a:t>There are 4 steps to a transformer’s attention layer:</a:t>
            </a:r>
          </a:p>
          <a:p>
            <a:pPr marL="800100" lvl="1" indent="-342900" defTabSz="457200">
              <a:buFont typeface="+mj-lt"/>
              <a:buAutoNum type="arabicPeriod"/>
              <a:defRPr/>
            </a:pPr>
            <a:r>
              <a:rPr lang="en-GB" dirty="0">
                <a:solidFill>
                  <a:prstClr val="black"/>
                </a:solidFill>
                <a:latin typeface="Calibri" panose="020F0502020204030204"/>
              </a:rPr>
              <a:t>The model reads data sequences. Makes them into vector embeddings </a:t>
            </a:r>
            <a:r>
              <a:rPr lang="en-GB" dirty="0">
                <a:solidFill>
                  <a:prstClr val="black"/>
                </a:solidFill>
                <a:latin typeface="Calibri" panose="020F0502020204030204"/>
                <a:sym typeface="Wingdings" panose="05000000000000000000" pitchFamily="2" charset="2"/>
              </a:rPr>
              <a:t> each element in the sequence has a numeric vector reflecting their semantic meaning.</a:t>
            </a:r>
          </a:p>
          <a:p>
            <a:pPr marL="800100" lvl="1" indent="-342900" defTabSz="457200">
              <a:buFont typeface="+mj-lt"/>
              <a:buAutoNum type="arabicPeriod"/>
              <a:defRPr/>
            </a:pPr>
            <a:endParaRPr lang="en-GB" dirty="0">
              <a:solidFill>
                <a:prstClr val="black"/>
              </a:solidFill>
              <a:latin typeface="Calibri" panose="020F0502020204030204"/>
              <a:sym typeface="Wingdings" panose="05000000000000000000" pitchFamily="2" charset="2"/>
            </a:endParaRPr>
          </a:p>
          <a:p>
            <a:pPr marL="800100" lvl="1" indent="-342900" defTabSz="457200">
              <a:buFont typeface="+mj-lt"/>
              <a:buAutoNum type="arabicPeriod"/>
              <a:defRPr/>
            </a:pPr>
            <a:r>
              <a:rPr lang="en-GB" dirty="0">
                <a:solidFill>
                  <a:prstClr val="black"/>
                </a:solidFill>
                <a:latin typeface="Calibri" panose="020F0502020204030204"/>
                <a:sym typeface="Wingdings" panose="05000000000000000000" pitchFamily="2" charset="2"/>
              </a:rPr>
              <a:t>The model determines the relationships between vectors. In transformer models, the relative importance of one vector to another is determined by computing the </a:t>
            </a:r>
            <a:r>
              <a:rPr lang="en-GB" i="1" dirty="0">
                <a:solidFill>
                  <a:prstClr val="black"/>
                </a:solidFill>
                <a:latin typeface="Calibri" panose="020F0502020204030204"/>
                <a:sym typeface="Wingdings" panose="05000000000000000000" pitchFamily="2" charset="2"/>
              </a:rPr>
              <a:t>dot product </a:t>
            </a:r>
            <a:r>
              <a:rPr lang="en-GB" dirty="0">
                <a:solidFill>
                  <a:prstClr val="black"/>
                </a:solidFill>
                <a:latin typeface="Calibri" panose="020F0502020204030204"/>
                <a:sym typeface="Wingdings" panose="05000000000000000000" pitchFamily="2" charset="2"/>
              </a:rPr>
              <a:t>between vectors</a:t>
            </a:r>
            <a:r>
              <a:rPr lang="en-GB" i="1" dirty="0">
                <a:solidFill>
                  <a:prstClr val="black"/>
                </a:solidFill>
                <a:latin typeface="Calibri" panose="020F0502020204030204"/>
                <a:sym typeface="Wingdings" panose="05000000000000000000" pitchFamily="2" charset="2"/>
              </a:rPr>
              <a:t>. </a:t>
            </a:r>
            <a:r>
              <a:rPr lang="en-GB" dirty="0">
                <a:solidFill>
                  <a:prstClr val="black"/>
                </a:solidFill>
                <a:latin typeface="Calibri" panose="020F0502020204030204"/>
                <a:sym typeface="Wingdings" panose="05000000000000000000" pitchFamily="2" charset="2"/>
              </a:rPr>
              <a:t>Well aligned vectors  larger dot product. Non-aligned vectors  small, negative dot product. </a:t>
            </a:r>
          </a:p>
          <a:p>
            <a:pPr marL="800100" lvl="1" indent="-342900" defTabSz="457200">
              <a:buFont typeface="+mj-lt"/>
              <a:buAutoNum type="arabicPeriod"/>
              <a:defRPr/>
            </a:pPr>
            <a:endParaRPr lang="en-GB" dirty="0">
              <a:solidFill>
                <a:prstClr val="black"/>
              </a:solidFill>
              <a:latin typeface="Calibri" panose="020F0502020204030204"/>
              <a:sym typeface="Wingdings" panose="05000000000000000000" pitchFamily="2" charset="2"/>
            </a:endParaRPr>
          </a:p>
          <a:p>
            <a:pPr marL="800100" lvl="1" indent="-342900" defTabSz="457200">
              <a:buFont typeface="+mj-lt"/>
              <a:buAutoNum type="arabicPeriod"/>
              <a:defRPr/>
            </a:pPr>
            <a:r>
              <a:rPr lang="en-GB" dirty="0">
                <a:solidFill>
                  <a:prstClr val="black"/>
                </a:solidFill>
                <a:latin typeface="Calibri" panose="020F0502020204030204"/>
                <a:sym typeface="Wingdings" panose="05000000000000000000" pitchFamily="2" charset="2"/>
              </a:rPr>
              <a:t>Alignment scores become </a:t>
            </a:r>
            <a:r>
              <a:rPr lang="en-GB" i="1" dirty="0">
                <a:solidFill>
                  <a:prstClr val="black"/>
                </a:solidFill>
                <a:latin typeface="Calibri" panose="020F0502020204030204"/>
                <a:sym typeface="Wingdings" panose="05000000000000000000" pitchFamily="2" charset="2"/>
              </a:rPr>
              <a:t>attention weights</a:t>
            </a:r>
            <a:r>
              <a:rPr lang="en-GB" dirty="0">
                <a:solidFill>
                  <a:prstClr val="black"/>
                </a:solidFill>
                <a:latin typeface="Calibri" panose="020F0502020204030204"/>
                <a:sym typeface="Wingdings" panose="05000000000000000000" pitchFamily="2" charset="2"/>
              </a:rPr>
              <a:t>. A ‘</a:t>
            </a:r>
            <a:r>
              <a:rPr lang="en-GB" dirty="0" err="1">
                <a:solidFill>
                  <a:prstClr val="black"/>
                </a:solidFill>
                <a:latin typeface="Calibri" panose="020F0502020204030204"/>
                <a:sym typeface="Wingdings" panose="05000000000000000000" pitchFamily="2" charset="2"/>
              </a:rPr>
              <a:t>softmax</a:t>
            </a:r>
            <a:r>
              <a:rPr lang="en-GB" dirty="0">
                <a:solidFill>
                  <a:prstClr val="black"/>
                </a:solidFill>
                <a:latin typeface="Calibri" panose="020F0502020204030204"/>
                <a:sym typeface="Wingdings" panose="05000000000000000000" pitchFamily="2" charset="2"/>
              </a:rPr>
              <a:t>’ function makes all values between 0-1, adding up to 1 in total. I.e. weight of 0 between “Vector A” and “Vector B” means that Vector B should be ignored when making predictions about Vector A. </a:t>
            </a:r>
          </a:p>
          <a:p>
            <a:pPr marL="800100" lvl="1" indent="-342900" defTabSz="457200">
              <a:buFont typeface="+mj-lt"/>
              <a:buAutoNum type="arabicPeriod"/>
              <a:defRPr/>
            </a:pPr>
            <a:endParaRPr lang="en-GB" dirty="0">
              <a:solidFill>
                <a:prstClr val="black"/>
              </a:solidFill>
              <a:latin typeface="Calibri" panose="020F0502020204030204"/>
              <a:sym typeface="Wingdings" panose="05000000000000000000" pitchFamily="2" charset="2"/>
            </a:endParaRPr>
          </a:p>
          <a:p>
            <a:pPr marL="800100" lvl="1" indent="-342900" defTabSz="457200">
              <a:buFont typeface="+mj-lt"/>
              <a:buAutoNum type="arabicPeriod"/>
              <a:defRPr/>
            </a:pPr>
            <a:r>
              <a:rPr lang="en-GB" dirty="0">
                <a:solidFill>
                  <a:prstClr val="black"/>
                </a:solidFill>
                <a:latin typeface="Calibri" panose="020F0502020204030204"/>
                <a:sym typeface="Wingdings" panose="05000000000000000000" pitchFamily="2" charset="2"/>
              </a:rPr>
              <a:t>The above is how a model focuses or ignore specific information. </a:t>
            </a: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Calibri" panose="020F0502020204030204"/>
            </a:endParaRPr>
          </a:p>
          <a:p>
            <a:pPr marR="0" lvl="0" algn="l" defTabSz="457200" rtl="0" eaLnBrk="1" fontAlgn="auto" latinLnBrk="0" hangingPunct="1">
              <a:lnSpc>
                <a:spcPct val="100000"/>
              </a:lnSpc>
              <a:spcBef>
                <a:spcPts val="0"/>
              </a:spcBef>
              <a:spcAft>
                <a:spcPts val="0"/>
              </a:spcAft>
              <a:buClrTx/>
              <a:buSzTx/>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10324219"/>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91DF8C3-36F1-7E58-A129-E1549D3AD94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9F4F242-5488-C41F-F26A-3581D522E94A}"/>
              </a:ext>
            </a:extLst>
          </p:cNvPr>
          <p:cNvSpPr txBox="1">
            <a:spLocks/>
          </p:cNvSpPr>
          <p:nvPr/>
        </p:nvSpPr>
        <p:spPr>
          <a:xfrm>
            <a:off x="198567" y="-982053"/>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rPr>
              <a:t>Tokenisation, Input Embeddings, Positional encoding, Vectors</a:t>
            </a:r>
          </a:p>
        </p:txBody>
      </p:sp>
      <p:sp>
        <p:nvSpPr>
          <p:cNvPr id="2" name="TextBox 1">
            <a:extLst>
              <a:ext uri="{FF2B5EF4-FFF2-40B4-BE49-F238E27FC236}">
                <a16:creationId xmlns:a16="http://schemas.microsoft.com/office/drawing/2014/main" id="{A1AA3E95-F47A-90EE-0287-C9F7A6861317}"/>
              </a:ext>
            </a:extLst>
          </p:cNvPr>
          <p:cNvSpPr txBox="1"/>
          <p:nvPr/>
        </p:nvSpPr>
        <p:spPr>
          <a:xfrm>
            <a:off x="99284" y="626685"/>
            <a:ext cx="11993432" cy="9325630"/>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Calibri" panose="020F050202020403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solidFill>
                  <a:prstClr val="black"/>
                </a:solidFill>
                <a:latin typeface="Calibri" panose="020F0502020204030204"/>
              </a:rPr>
              <a:t>Tokens &amp; Input Embeddings –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b="1"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We use </a:t>
            </a:r>
            <a:r>
              <a:rPr lang="en-GB" i="1" dirty="0">
                <a:solidFill>
                  <a:prstClr val="black"/>
                </a:solidFill>
                <a:latin typeface="Calibri" panose="020F0502020204030204"/>
              </a:rPr>
              <a:t>letters, numbers </a:t>
            </a:r>
            <a:r>
              <a:rPr lang="en-GB" dirty="0">
                <a:solidFill>
                  <a:prstClr val="black"/>
                </a:solidFill>
                <a:latin typeface="Calibri" panose="020F0502020204030204"/>
              </a:rPr>
              <a:t>as the base unit of language. AI models use </a:t>
            </a:r>
            <a:r>
              <a:rPr lang="en-GB" i="1" dirty="0">
                <a:solidFill>
                  <a:prstClr val="black"/>
                </a:solidFill>
                <a:latin typeface="Calibri" panose="020F0502020204030204"/>
              </a:rPr>
              <a:t>tokens.</a:t>
            </a: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Each token is assigned an ID number, reducing computational power needed the process text. </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To generate vector to feed into attention layers, the model gets an initial, contextless vector embedding for each token.</a:t>
            </a:r>
          </a:p>
          <a:p>
            <a:pPr lvl="1" defTabSz="457200">
              <a:defRPr/>
            </a:pPr>
            <a:r>
              <a:rPr lang="en-GB" dirty="0">
                <a:solidFill>
                  <a:prstClr val="black"/>
                </a:solidFill>
                <a:latin typeface="Calibri" panose="020F0502020204030204"/>
              </a:rPr>
              <a:t> </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285750" indent="-285750" defTabSz="457200">
              <a:buFont typeface="Arial" panose="020B0604020202020204" pitchFamily="34" charset="0"/>
              <a:buChar char="•"/>
              <a:defRPr/>
            </a:pPr>
            <a:r>
              <a:rPr lang="en-GB" b="1" dirty="0">
                <a:solidFill>
                  <a:prstClr val="black"/>
                </a:solidFill>
                <a:latin typeface="Calibri" panose="020F0502020204030204"/>
              </a:rPr>
              <a:t>Positional encoding </a:t>
            </a:r>
            <a:r>
              <a:rPr lang="en-GB" dirty="0">
                <a:solidFill>
                  <a:prstClr val="black"/>
                </a:solidFill>
                <a:latin typeface="Calibri" panose="020F0502020204030204"/>
              </a:rPr>
              <a:t>– </a:t>
            </a:r>
          </a:p>
          <a:p>
            <a:pPr marL="285750"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a:solidFill>
                  <a:prstClr val="black"/>
                </a:solidFill>
                <a:latin typeface="Calibri" panose="020F0502020204030204"/>
              </a:rPr>
              <a:t>Transformer models add positional info. for the attention mechanism to consider, relative to its position. The closer the tokens, the more similar the positional vectors, the higher the alignment score. </a:t>
            </a: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lvl="1" defTabSz="457200">
              <a:defRPr/>
            </a:pPr>
            <a:endParaRPr lang="en-GB" dirty="0">
              <a:solidFill>
                <a:prstClr val="black"/>
              </a:solidFill>
              <a:latin typeface="Calibri" panose="020F0502020204030204"/>
            </a:endParaRPr>
          </a:p>
          <a:p>
            <a:pPr lvl="1" defTabSz="457200">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742950" lvl="1"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59305897"/>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8EF43B-DCF1-0CB4-F58C-46238B7590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D0D72F-756A-3635-B3D3-9C5E03F6DCEC}"/>
              </a:ext>
            </a:extLst>
          </p:cNvPr>
          <p:cNvPicPr>
            <a:picLocks noChangeAspect="1"/>
          </p:cNvPicPr>
          <p:nvPr/>
        </p:nvPicPr>
        <p:blipFill>
          <a:blip r:embed="rId4"/>
          <a:stretch>
            <a:fillRect/>
          </a:stretch>
        </p:blipFill>
        <p:spPr>
          <a:xfrm>
            <a:off x="5903494" y="164514"/>
            <a:ext cx="5642414" cy="6528972"/>
          </a:xfrm>
          <a:prstGeom prst="rect">
            <a:avLst/>
          </a:prstGeom>
        </p:spPr>
      </p:pic>
      <p:sp>
        <p:nvSpPr>
          <p:cNvPr id="5" name="TextBox 4">
            <a:extLst>
              <a:ext uri="{FF2B5EF4-FFF2-40B4-BE49-F238E27FC236}">
                <a16:creationId xmlns:a16="http://schemas.microsoft.com/office/drawing/2014/main" id="{612BEAAD-7992-6F99-49FF-B5BD84B1E547}"/>
              </a:ext>
            </a:extLst>
          </p:cNvPr>
          <p:cNvSpPr txBox="1"/>
          <p:nvPr/>
        </p:nvSpPr>
        <p:spPr>
          <a:xfrm>
            <a:off x="0" y="-512304"/>
            <a:ext cx="5261810" cy="12372618"/>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Calibri" panose="020F0502020204030204"/>
            </a:endParaRPr>
          </a:p>
          <a:p>
            <a:pPr defTabSz="457200">
              <a:defRPr/>
            </a:pPr>
            <a:endParaRPr lang="en-GB" dirty="0">
              <a:solidFill>
                <a:prstClr val="black"/>
              </a:solidFill>
              <a:latin typeface="Calibri" panose="020F0502020204030204"/>
            </a:endParaRPr>
          </a:p>
          <a:p>
            <a:pPr defTabSz="457200">
              <a:defRPr/>
            </a:pPr>
            <a:r>
              <a:rPr lang="en-GB" sz="2400" b="1" u="sng" dirty="0">
                <a:solidFill>
                  <a:prstClr val="black"/>
                </a:solidFill>
                <a:latin typeface="Calibri" panose="020F0502020204030204"/>
              </a:rPr>
              <a:t>Vectors-</a:t>
            </a:r>
          </a:p>
          <a:p>
            <a:pPr marL="285750"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r>
              <a:rPr lang="en-GB" i="1" dirty="0">
                <a:solidFill>
                  <a:prstClr val="black"/>
                </a:solidFill>
                <a:latin typeface="Calibri" panose="020F0502020204030204"/>
              </a:rPr>
              <a:t>Query Vector </a:t>
            </a:r>
            <a:r>
              <a:rPr lang="en-GB" dirty="0">
                <a:solidFill>
                  <a:prstClr val="black"/>
                </a:solidFill>
                <a:latin typeface="Calibri" panose="020F0502020204030204"/>
              </a:rPr>
              <a:t>– the info. a token is seeking; how other tokens influence its’ meaning.</a:t>
            </a: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r>
              <a:rPr lang="en-GB" i="1" dirty="0">
                <a:solidFill>
                  <a:prstClr val="black"/>
                </a:solidFill>
                <a:latin typeface="Calibri" panose="020F0502020204030204"/>
              </a:rPr>
              <a:t>Key Vectors </a:t>
            </a:r>
            <a:r>
              <a:rPr lang="en-GB" dirty="0">
                <a:solidFill>
                  <a:prstClr val="black"/>
                </a:solidFill>
                <a:latin typeface="Calibri" panose="020F0502020204030204"/>
              </a:rPr>
              <a:t>– the info. Of the token. </a:t>
            </a:r>
            <a:r>
              <a:rPr lang="en-GB" b="1" u="sng" dirty="0">
                <a:solidFill>
                  <a:prstClr val="black"/>
                </a:solidFill>
                <a:latin typeface="Calibri" panose="020F0502020204030204"/>
              </a:rPr>
              <a:t>Alignment</a:t>
            </a:r>
            <a:r>
              <a:rPr lang="en-GB" dirty="0">
                <a:solidFill>
                  <a:prstClr val="black"/>
                </a:solidFill>
                <a:latin typeface="Calibri" panose="020F0502020204030204"/>
              </a:rPr>
              <a:t> between </a:t>
            </a:r>
            <a:r>
              <a:rPr lang="en-GB" i="1" dirty="0">
                <a:solidFill>
                  <a:prstClr val="black"/>
                </a:solidFill>
                <a:latin typeface="Calibri" panose="020F0502020204030204"/>
              </a:rPr>
              <a:t>query </a:t>
            </a:r>
            <a:r>
              <a:rPr lang="en-GB" dirty="0">
                <a:solidFill>
                  <a:prstClr val="black"/>
                </a:solidFill>
                <a:latin typeface="Calibri" panose="020F0502020204030204"/>
              </a:rPr>
              <a:t>and </a:t>
            </a:r>
            <a:r>
              <a:rPr lang="en-GB" i="1" dirty="0">
                <a:solidFill>
                  <a:prstClr val="black"/>
                </a:solidFill>
                <a:latin typeface="Calibri" panose="020F0502020204030204"/>
              </a:rPr>
              <a:t>key </a:t>
            </a:r>
            <a:r>
              <a:rPr lang="en-GB" dirty="0">
                <a:solidFill>
                  <a:prstClr val="black"/>
                </a:solidFill>
                <a:latin typeface="Calibri" panose="020F0502020204030204"/>
              </a:rPr>
              <a:t>= attention weight .</a:t>
            </a: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r>
              <a:rPr lang="en-GB" i="1" dirty="0">
                <a:solidFill>
                  <a:prstClr val="black"/>
                </a:solidFill>
                <a:latin typeface="Calibri" panose="020F0502020204030204"/>
              </a:rPr>
              <a:t>Value Vector </a:t>
            </a:r>
            <a:r>
              <a:rPr lang="en-GB" dirty="0">
                <a:solidFill>
                  <a:prstClr val="black"/>
                </a:solidFill>
                <a:latin typeface="Calibri" panose="020F0502020204030204"/>
              </a:rPr>
              <a:t>– the info. From each key vector, scaled by respective attention weight. </a:t>
            </a: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lvl="1" indent="-342900" defTabSz="457200">
              <a:buAutoNum type="arabicParenBoth"/>
              <a:defRPr/>
            </a:pPr>
            <a:r>
              <a:rPr lang="en-GB" dirty="0">
                <a:solidFill>
                  <a:prstClr val="black"/>
                </a:solidFill>
                <a:latin typeface="Calibri" panose="020F0502020204030204"/>
              </a:rPr>
              <a:t>All vectors generated by passing token embeddings through 3 parallel FNNs, proceeding the first attention layer. </a:t>
            </a:r>
          </a:p>
          <a:p>
            <a:pPr marL="800100" lvl="1" indent="-342900" defTabSz="457200">
              <a:buAutoNum type="arabicParenBoth"/>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lvl="1" indent="-342900" defTabSz="457200">
              <a:buAutoNum type="arabicParenBoth"/>
              <a:defRPr/>
            </a:pPr>
            <a:r>
              <a:rPr lang="en-GB" dirty="0">
                <a:solidFill>
                  <a:prstClr val="black"/>
                </a:solidFill>
                <a:latin typeface="Calibri" panose="020F0502020204030204"/>
              </a:rPr>
              <a:t>The attention mechanism assigns attention weights to each </a:t>
            </a:r>
            <a:r>
              <a:rPr lang="en-GB" b="1" dirty="0">
                <a:latin typeface="Calibri" panose="020F0502020204030204"/>
              </a:rPr>
              <a:t>*query vector-key vector* </a:t>
            </a:r>
            <a:r>
              <a:rPr lang="en-GB" dirty="0">
                <a:latin typeface="Calibri" panose="020F0502020204030204"/>
              </a:rPr>
              <a:t>pair </a:t>
            </a:r>
            <a:r>
              <a:rPr lang="en-GB" dirty="0">
                <a:latin typeface="Calibri" panose="020F0502020204030204"/>
                <a:sym typeface="Wingdings" panose="05000000000000000000" pitchFamily="2" charset="2"/>
              </a:rPr>
              <a:t> </a:t>
            </a:r>
            <a:r>
              <a:rPr lang="en-GB" b="1" dirty="0">
                <a:latin typeface="Calibri" panose="020F0502020204030204"/>
                <a:sym typeface="Wingdings" panose="05000000000000000000" pitchFamily="2" charset="2"/>
              </a:rPr>
              <a:t>value vector</a:t>
            </a:r>
            <a:endParaRPr lang="en-GB" b="1" dirty="0">
              <a:latin typeface="Calibri" panose="020F0502020204030204"/>
            </a:endParaRPr>
          </a:p>
          <a:p>
            <a:pPr marL="800100" lvl="1" indent="-342900" defTabSz="457200">
              <a:buAutoNum type="arabicParenBoth"/>
              <a:defRPr/>
            </a:pPr>
            <a:endParaRPr kumimoji="0" lang="en-GB" u="none" strike="noStrike" kern="1200" cap="none" spc="0" normalizeH="0" baseline="0" noProof="0" dirty="0">
              <a:ln>
                <a:noFill/>
              </a:ln>
              <a:effectLst/>
              <a:uLnTx/>
              <a:uFillTx/>
              <a:latin typeface="Calibri" panose="020F0502020204030204"/>
              <a:ea typeface="+mn-ea"/>
              <a:cs typeface="+mn-cs"/>
            </a:endParaRPr>
          </a:p>
          <a:p>
            <a:pPr marL="800100" lvl="1" indent="-342900" defTabSz="457200">
              <a:buAutoNum type="arabicParenBoth"/>
              <a:defRPr/>
            </a:pPr>
            <a:r>
              <a:rPr lang="en-GB" dirty="0">
                <a:latin typeface="Calibri" panose="020F0502020204030204"/>
              </a:rPr>
              <a:t> </a:t>
            </a:r>
            <a:r>
              <a:rPr lang="el-GR" dirty="0">
                <a:latin typeface="Calibri" panose="020F0502020204030204"/>
              </a:rPr>
              <a:t>Σ</a:t>
            </a:r>
            <a:r>
              <a:rPr lang="en-GB" dirty="0">
                <a:latin typeface="Calibri" panose="020F0502020204030204"/>
              </a:rPr>
              <a:t> (Value vectors) </a:t>
            </a:r>
            <a:r>
              <a:rPr lang="en-GB" dirty="0">
                <a:latin typeface="Calibri" panose="020F0502020204030204"/>
                <a:sym typeface="Wingdings" panose="05000000000000000000" pitchFamily="2" charset="2"/>
              </a:rPr>
              <a:t>= aggregated contextual info. provided to a certain token by other tokens. </a:t>
            </a:r>
            <a:endParaRPr kumimoji="0" lang="en-GB" u="none" strike="noStrike" kern="1200" cap="none" spc="0" normalizeH="0" baseline="0" noProof="0" dirty="0">
              <a:ln>
                <a:noFill/>
              </a:ln>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kumimoji="0" lang="en-GB" b="0" u="none" strike="noStrike" kern="1200" cap="none" spc="0" normalizeH="0" baseline="0" noProof="0" dirty="0">
              <a:ln>
                <a:noFill/>
              </a:ln>
              <a:solidFill>
                <a:prstClr val="black"/>
              </a:solidFill>
              <a:effectLst/>
              <a:uLnTx/>
              <a:uFillTx/>
              <a:latin typeface="Calibri" panose="020F0502020204030204"/>
              <a:ea typeface="+mn-ea"/>
              <a:cs typeface="+mn-cs"/>
            </a:endParaRPr>
          </a:p>
          <a:p>
            <a:pPr lvl="1" defTabSz="457200">
              <a:defRPr/>
            </a:pPr>
            <a:endParaRPr lang="en-GB" dirty="0">
              <a:solidFill>
                <a:prstClr val="black"/>
              </a:solidFill>
              <a:latin typeface="Calibri" panose="020F0502020204030204"/>
            </a:endParaRPr>
          </a:p>
          <a:p>
            <a:pPr lvl="1" defTabSz="457200">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742950" lvl="1"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827099284"/>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023A88-92F7-C2AB-EED4-75E7C330B7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FDAA57-C7A5-849B-736D-A434185F4CE0}"/>
              </a:ext>
            </a:extLst>
          </p:cNvPr>
          <p:cNvSpPr txBox="1"/>
          <p:nvPr/>
        </p:nvSpPr>
        <p:spPr>
          <a:xfrm>
            <a:off x="0" y="-512304"/>
            <a:ext cx="8101263" cy="6093976"/>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endParaRPr lang="en-GB" dirty="0">
              <a:solidFill>
                <a:prstClr val="black"/>
              </a:solidFill>
              <a:latin typeface="Calibri" panose="020F0502020204030204"/>
            </a:endParaRPr>
          </a:p>
          <a:p>
            <a:pPr defTabSz="457200">
              <a:defRPr/>
            </a:pPr>
            <a:endParaRPr lang="en-GB" dirty="0">
              <a:solidFill>
                <a:prstClr val="black"/>
              </a:solidFill>
              <a:latin typeface="Calibri" panose="020F0502020204030204"/>
            </a:endParaRPr>
          </a:p>
          <a:p>
            <a:pPr defTabSz="457200">
              <a:defRPr/>
            </a:pPr>
            <a:r>
              <a:rPr lang="en-GB" sz="2400" b="1" u="sng" dirty="0">
                <a:solidFill>
                  <a:prstClr val="black"/>
                </a:solidFill>
                <a:latin typeface="Calibri" panose="020F0502020204030204"/>
              </a:rPr>
              <a:t>Multi-head attention - </a:t>
            </a:r>
          </a:p>
          <a:p>
            <a:pPr lvl="1" defTabSz="457200">
              <a:defRPr/>
            </a:pPr>
            <a:endParaRPr lang="en-GB" dirty="0">
              <a:solidFill>
                <a:prstClr val="black"/>
              </a:solidFill>
              <a:latin typeface="Calibri" panose="020F0502020204030204"/>
            </a:endParaRPr>
          </a:p>
          <a:p>
            <a:pPr lvl="1" defTabSz="457200">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742950" lvl="1"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114D113A-B313-5256-F96D-64F4CC3D022E}"/>
              </a:ext>
            </a:extLst>
          </p:cNvPr>
          <p:cNvPicPr>
            <a:picLocks noChangeAspect="1"/>
          </p:cNvPicPr>
          <p:nvPr/>
        </p:nvPicPr>
        <p:blipFill>
          <a:blip r:embed="rId4"/>
          <a:stretch>
            <a:fillRect/>
          </a:stretch>
        </p:blipFill>
        <p:spPr>
          <a:xfrm>
            <a:off x="471146" y="693935"/>
            <a:ext cx="5304566" cy="5603966"/>
          </a:xfrm>
          <a:prstGeom prst="rect">
            <a:avLst/>
          </a:prstGeom>
        </p:spPr>
      </p:pic>
      <p:pic>
        <p:nvPicPr>
          <p:cNvPr id="11" name="Picture 10">
            <a:extLst>
              <a:ext uri="{FF2B5EF4-FFF2-40B4-BE49-F238E27FC236}">
                <a16:creationId xmlns:a16="http://schemas.microsoft.com/office/drawing/2014/main" id="{63D8D026-A843-D76F-3991-4A412488B8C0}"/>
              </a:ext>
            </a:extLst>
          </p:cNvPr>
          <p:cNvPicPr>
            <a:picLocks noChangeAspect="1"/>
          </p:cNvPicPr>
          <p:nvPr/>
        </p:nvPicPr>
        <p:blipFill>
          <a:blip r:embed="rId5"/>
          <a:stretch>
            <a:fillRect/>
          </a:stretch>
        </p:blipFill>
        <p:spPr>
          <a:xfrm>
            <a:off x="6450663" y="947859"/>
            <a:ext cx="5270191" cy="5350042"/>
          </a:xfrm>
          <a:prstGeom prst="rect">
            <a:avLst/>
          </a:prstGeom>
        </p:spPr>
      </p:pic>
    </p:spTree>
    <p:custDataLst>
      <p:tags r:id="rId1"/>
    </p:custDataLst>
    <p:extLst>
      <p:ext uri="{BB962C8B-B14F-4D97-AF65-F5344CB8AC3E}">
        <p14:creationId xmlns:p14="http://schemas.microsoft.com/office/powerpoint/2010/main" val="1091101484"/>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4C56C78-B935-3206-E0A7-F80A001CFEF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81C9236-2805-A2C1-1CEA-011EE5C9EAD7}"/>
              </a:ext>
            </a:extLst>
          </p:cNvPr>
          <p:cNvSpPr txBox="1">
            <a:spLocks/>
          </p:cNvSpPr>
          <p:nvPr/>
        </p:nvSpPr>
        <p:spPr>
          <a:xfrm>
            <a:off x="198567" y="-7253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Methods – Data Preprocessing</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60F08D85-4123-E2D3-8A15-8CA856338386}"/>
              </a:ext>
            </a:extLst>
          </p:cNvPr>
          <p:cNvGrpSpPr/>
          <p:nvPr/>
        </p:nvGrpSpPr>
        <p:grpSpPr>
          <a:xfrm>
            <a:off x="2714324" y="917883"/>
            <a:ext cx="6763351" cy="5578824"/>
            <a:chOff x="5428649" y="725378"/>
            <a:chExt cx="6763351" cy="5578824"/>
          </a:xfrm>
        </p:grpSpPr>
        <p:pic>
          <p:nvPicPr>
            <p:cNvPr id="3" name="Picture 2">
              <a:extLst>
                <a:ext uri="{FF2B5EF4-FFF2-40B4-BE49-F238E27FC236}">
                  <a16:creationId xmlns:a16="http://schemas.microsoft.com/office/drawing/2014/main" id="{879843D9-D928-7AC3-F21E-C3CE5297C0F5}"/>
                </a:ext>
              </a:extLst>
            </p:cNvPr>
            <p:cNvPicPr>
              <a:picLocks noChangeAspect="1"/>
            </p:cNvPicPr>
            <p:nvPr/>
          </p:nvPicPr>
          <p:blipFill>
            <a:blip r:embed="rId4"/>
            <a:stretch>
              <a:fillRect/>
            </a:stretch>
          </p:blipFill>
          <p:spPr>
            <a:xfrm>
              <a:off x="7257448" y="725378"/>
              <a:ext cx="4186990" cy="2273161"/>
            </a:xfrm>
            <a:prstGeom prst="rect">
              <a:avLst/>
            </a:prstGeom>
          </p:spPr>
        </p:pic>
        <p:pic>
          <p:nvPicPr>
            <p:cNvPr id="7" name="Picture 6">
              <a:extLst>
                <a:ext uri="{FF2B5EF4-FFF2-40B4-BE49-F238E27FC236}">
                  <a16:creationId xmlns:a16="http://schemas.microsoft.com/office/drawing/2014/main" id="{4BC62EF6-F04D-225C-219A-19E2CDFE118A}"/>
                </a:ext>
              </a:extLst>
            </p:cNvPr>
            <p:cNvPicPr>
              <a:picLocks noChangeAspect="1"/>
            </p:cNvPicPr>
            <p:nvPr/>
          </p:nvPicPr>
          <p:blipFill>
            <a:blip r:embed="rId5"/>
            <a:stretch>
              <a:fillRect/>
            </a:stretch>
          </p:blipFill>
          <p:spPr>
            <a:xfrm>
              <a:off x="5428649" y="3095203"/>
              <a:ext cx="2174078" cy="3208999"/>
            </a:xfrm>
            <a:prstGeom prst="rect">
              <a:avLst/>
            </a:prstGeom>
          </p:spPr>
        </p:pic>
        <p:pic>
          <p:nvPicPr>
            <p:cNvPr id="9" name="Picture 8">
              <a:extLst>
                <a:ext uri="{FF2B5EF4-FFF2-40B4-BE49-F238E27FC236}">
                  <a16:creationId xmlns:a16="http://schemas.microsoft.com/office/drawing/2014/main" id="{E44505E8-6BD1-E089-31CB-03D95E3A3BC4}"/>
                </a:ext>
              </a:extLst>
            </p:cNvPr>
            <p:cNvPicPr>
              <a:picLocks noChangeAspect="1"/>
            </p:cNvPicPr>
            <p:nvPr/>
          </p:nvPicPr>
          <p:blipFill>
            <a:blip r:embed="rId6"/>
            <a:stretch>
              <a:fillRect/>
            </a:stretch>
          </p:blipFill>
          <p:spPr>
            <a:xfrm>
              <a:off x="8431731" y="4106136"/>
              <a:ext cx="3760269" cy="1030211"/>
            </a:xfrm>
            <a:prstGeom prst="rect">
              <a:avLst/>
            </a:prstGeom>
          </p:spPr>
        </p:pic>
        <p:sp>
          <p:nvSpPr>
            <p:cNvPr id="11" name="Arrow: Down 10">
              <a:extLst>
                <a:ext uri="{FF2B5EF4-FFF2-40B4-BE49-F238E27FC236}">
                  <a16:creationId xmlns:a16="http://schemas.microsoft.com/office/drawing/2014/main" id="{F6743FAB-A171-707A-5021-DCA606DD52C7}"/>
                </a:ext>
              </a:extLst>
            </p:cNvPr>
            <p:cNvSpPr/>
            <p:nvPr/>
          </p:nvSpPr>
          <p:spPr>
            <a:xfrm rot="2093801">
              <a:off x="7417343" y="2125899"/>
              <a:ext cx="142843" cy="8660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Down 11">
              <a:extLst>
                <a:ext uri="{FF2B5EF4-FFF2-40B4-BE49-F238E27FC236}">
                  <a16:creationId xmlns:a16="http://schemas.microsoft.com/office/drawing/2014/main" id="{DEEEF517-CD93-1A23-6507-C692A5BCE709}"/>
                </a:ext>
              </a:extLst>
            </p:cNvPr>
            <p:cNvSpPr/>
            <p:nvPr/>
          </p:nvSpPr>
          <p:spPr>
            <a:xfrm rot="18186166">
              <a:off x="7983453" y="3278743"/>
              <a:ext cx="158232" cy="9845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a:extLst>
              <a:ext uri="{FF2B5EF4-FFF2-40B4-BE49-F238E27FC236}">
                <a16:creationId xmlns:a16="http://schemas.microsoft.com/office/drawing/2014/main" id="{1B751FED-2B1B-2A28-6BD1-6530F81FADE0}"/>
              </a:ext>
            </a:extLst>
          </p:cNvPr>
          <p:cNvPicPr>
            <a:picLocks noChangeAspect="1"/>
          </p:cNvPicPr>
          <p:nvPr/>
        </p:nvPicPr>
        <p:blipFill>
          <a:blip r:embed="rId7"/>
          <a:stretch>
            <a:fillRect/>
          </a:stretch>
        </p:blipFill>
        <p:spPr>
          <a:xfrm>
            <a:off x="0" y="1207404"/>
            <a:ext cx="3077004" cy="1600423"/>
          </a:xfrm>
          <a:prstGeom prst="rect">
            <a:avLst/>
          </a:prstGeom>
        </p:spPr>
      </p:pic>
      <p:sp>
        <p:nvSpPr>
          <p:cNvPr id="5" name="Arrow: Down 4">
            <a:extLst>
              <a:ext uri="{FF2B5EF4-FFF2-40B4-BE49-F238E27FC236}">
                <a16:creationId xmlns:a16="http://schemas.microsoft.com/office/drawing/2014/main" id="{4AD11A6A-59C2-0128-71F7-007AC4D5CC7C}"/>
              </a:ext>
            </a:extLst>
          </p:cNvPr>
          <p:cNvSpPr/>
          <p:nvPr/>
        </p:nvSpPr>
        <p:spPr>
          <a:xfrm rot="16200000">
            <a:off x="3738642" y="1334875"/>
            <a:ext cx="142843" cy="8660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81528046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533786-C429-EE7A-5729-1436A0744F0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767CDB1-F361-AE22-E0E2-AC0A4FEDBC02}"/>
              </a:ext>
            </a:extLst>
          </p:cNvPr>
          <p:cNvSpPr txBox="1">
            <a:spLocks/>
          </p:cNvSpPr>
          <p:nvPr/>
        </p:nvSpPr>
        <p:spPr>
          <a:xfrm>
            <a:off x="198567" y="-7253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Methods – Statistics</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6B3E7FB7-4368-E26C-416F-9973CEB0CA50}"/>
              </a:ext>
            </a:extLst>
          </p:cNvPr>
          <p:cNvPicPr>
            <a:picLocks noChangeAspect="1"/>
          </p:cNvPicPr>
          <p:nvPr/>
        </p:nvPicPr>
        <p:blipFill>
          <a:blip r:embed="rId4"/>
          <a:stretch>
            <a:fillRect/>
          </a:stretch>
        </p:blipFill>
        <p:spPr>
          <a:xfrm>
            <a:off x="323431" y="1046221"/>
            <a:ext cx="11435432" cy="4970015"/>
          </a:xfrm>
          <a:prstGeom prst="rect">
            <a:avLst/>
          </a:prstGeom>
        </p:spPr>
      </p:pic>
    </p:spTree>
    <p:custDataLst>
      <p:tags r:id="rId1"/>
    </p:custDataLst>
    <p:extLst>
      <p:ext uri="{BB962C8B-B14F-4D97-AF65-F5344CB8AC3E}">
        <p14:creationId xmlns:p14="http://schemas.microsoft.com/office/powerpoint/2010/main" val="3569540730"/>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66FF93-0503-FDC9-869D-2291F8E0514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AC295E1-A065-09FF-5C8D-8C507421182B}"/>
              </a:ext>
            </a:extLst>
          </p:cNvPr>
          <p:cNvSpPr txBox="1">
            <a:spLocks/>
          </p:cNvSpPr>
          <p:nvPr/>
        </p:nvSpPr>
        <p:spPr>
          <a:xfrm>
            <a:off x="198567" y="-7253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Methods – Model Performance</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CA57AE8-42A1-F181-16A6-3067CC4F9CF0}"/>
              </a:ext>
            </a:extLst>
          </p:cNvPr>
          <p:cNvPicPr>
            <a:picLocks noChangeAspect="1"/>
          </p:cNvPicPr>
          <p:nvPr/>
        </p:nvPicPr>
        <p:blipFill>
          <a:blip r:embed="rId4"/>
          <a:stretch>
            <a:fillRect/>
          </a:stretch>
        </p:blipFill>
        <p:spPr>
          <a:xfrm>
            <a:off x="529390" y="1541855"/>
            <a:ext cx="4164550" cy="3347455"/>
          </a:xfrm>
          <a:prstGeom prst="rect">
            <a:avLst/>
          </a:prstGeom>
        </p:spPr>
      </p:pic>
      <p:pic>
        <p:nvPicPr>
          <p:cNvPr id="8" name="Picture 7">
            <a:extLst>
              <a:ext uri="{FF2B5EF4-FFF2-40B4-BE49-F238E27FC236}">
                <a16:creationId xmlns:a16="http://schemas.microsoft.com/office/drawing/2014/main" id="{FDA91551-310C-A9D2-AB92-C8D0B0A06A2D}"/>
              </a:ext>
            </a:extLst>
          </p:cNvPr>
          <p:cNvPicPr>
            <a:picLocks noChangeAspect="1"/>
          </p:cNvPicPr>
          <p:nvPr/>
        </p:nvPicPr>
        <p:blipFill>
          <a:blip r:embed="rId5"/>
          <a:stretch>
            <a:fillRect/>
          </a:stretch>
        </p:blipFill>
        <p:spPr>
          <a:xfrm>
            <a:off x="4750896" y="1433453"/>
            <a:ext cx="6911714" cy="3455857"/>
          </a:xfrm>
          <a:prstGeom prst="rect">
            <a:avLst/>
          </a:prstGeom>
        </p:spPr>
      </p:pic>
      <p:pic>
        <p:nvPicPr>
          <p:cNvPr id="11" name="Picture 10">
            <a:extLst>
              <a:ext uri="{FF2B5EF4-FFF2-40B4-BE49-F238E27FC236}">
                <a16:creationId xmlns:a16="http://schemas.microsoft.com/office/drawing/2014/main" id="{14E229C1-37EC-2C0A-A629-59840FD3861B}"/>
              </a:ext>
            </a:extLst>
          </p:cNvPr>
          <p:cNvPicPr>
            <a:picLocks noChangeAspect="1"/>
          </p:cNvPicPr>
          <p:nvPr/>
        </p:nvPicPr>
        <p:blipFill>
          <a:blip r:embed="rId6"/>
          <a:stretch>
            <a:fillRect/>
          </a:stretch>
        </p:blipFill>
        <p:spPr>
          <a:xfrm>
            <a:off x="2123520" y="5495379"/>
            <a:ext cx="7944959" cy="647790"/>
          </a:xfrm>
          <a:prstGeom prst="rect">
            <a:avLst/>
          </a:prstGeom>
        </p:spPr>
      </p:pic>
    </p:spTree>
    <p:custDataLst>
      <p:tags r:id="rId1"/>
    </p:custDataLst>
    <p:extLst>
      <p:ext uri="{BB962C8B-B14F-4D97-AF65-F5344CB8AC3E}">
        <p14:creationId xmlns:p14="http://schemas.microsoft.com/office/powerpoint/2010/main" val="3164804599"/>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311A7D-D841-4B2E-E6B1-38862D24ABB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937624F-A147-1910-3752-1E9C17BB8A0F}"/>
              </a:ext>
            </a:extLst>
          </p:cNvPr>
          <p:cNvSpPr txBox="1">
            <a:spLocks/>
          </p:cNvSpPr>
          <p:nvPr/>
        </p:nvSpPr>
        <p:spPr>
          <a:xfrm>
            <a:off x="198567" y="-420579"/>
            <a:ext cx="11794866"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Methods – Model Performance</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28C11170-F3A9-865D-B58E-11619D3D74DF}"/>
              </a:ext>
            </a:extLst>
          </p:cNvPr>
          <p:cNvPicPr>
            <a:picLocks noChangeAspect="1"/>
          </p:cNvPicPr>
          <p:nvPr/>
        </p:nvPicPr>
        <p:blipFill>
          <a:blip r:embed="rId4"/>
          <a:stretch>
            <a:fillRect/>
          </a:stretch>
        </p:blipFill>
        <p:spPr>
          <a:xfrm>
            <a:off x="198567" y="1805172"/>
            <a:ext cx="11631904" cy="3247655"/>
          </a:xfrm>
          <a:prstGeom prst="rect">
            <a:avLst/>
          </a:prstGeom>
        </p:spPr>
      </p:pic>
    </p:spTree>
    <p:custDataLst>
      <p:tags r:id="rId1"/>
    </p:custDataLst>
    <p:extLst>
      <p:ext uri="{BB962C8B-B14F-4D97-AF65-F5344CB8AC3E}">
        <p14:creationId xmlns:p14="http://schemas.microsoft.com/office/powerpoint/2010/main" val="2840206921"/>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5E28C3-D87E-B9D5-EF2C-2A6A71DCBE6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95EE6CA-4599-0657-C0F3-93D292AF8DF7}"/>
              </a:ext>
            </a:extLst>
          </p:cNvPr>
          <p:cNvSpPr txBox="1">
            <a:spLocks/>
          </p:cNvSpPr>
          <p:nvPr/>
        </p:nvSpPr>
        <p:spPr>
          <a:xfrm>
            <a:off x="117086" y="-597042"/>
            <a:ext cx="11713385"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lvl="0">
              <a:defRPr/>
            </a:pPr>
            <a:r>
              <a:rPr lang="en-GB" sz="2400" b="1" i="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‘Transformer-based deep learning model for the diagnosis of  suspected lung cancer…’ </a:t>
            </a:r>
            <a:r>
              <a:rPr lang="en-GB" sz="2400" b="1" u="sng" dirty="0">
                <a:solidFill>
                  <a:prstClr val="black">
                    <a:lumMod val="75000"/>
                    <a:lumOff val="25000"/>
                  </a:prstClr>
                </a:solidFill>
                <a:latin typeface="Calibri" panose="020F0502020204030204" pitchFamily="34" charset="0"/>
                <a:ea typeface="Calibri" panose="020F0502020204030204" pitchFamily="34" charset="0"/>
                <a:cs typeface="Calibri" panose="020F0502020204030204" pitchFamily="34" charset="0"/>
              </a:rPr>
              <a:t>– Discussion Points</a:t>
            </a:r>
            <a:endParaRPr kumimoji="0" lang="en-GB" sz="2400" b="1" i="0" u="sng" strike="noStrike" kern="1200" cap="none" spc="-50" normalizeH="0" baseline="0" noProof="0" dirty="0">
              <a:ln>
                <a:noFill/>
              </a:ln>
              <a:solidFill>
                <a:prstClr val="black">
                  <a:lumMod val="75000"/>
                  <a:lumOff val="25000"/>
                </a:prst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4FB4EC0-3FED-4DF3-0D6D-E42E2659E2D3}"/>
              </a:ext>
            </a:extLst>
          </p:cNvPr>
          <p:cNvSpPr txBox="1"/>
          <p:nvPr/>
        </p:nvSpPr>
        <p:spPr>
          <a:xfrm>
            <a:off x="-332093" y="645168"/>
            <a:ext cx="12407007" cy="11541621"/>
          </a:xfrm>
          <a:prstGeom prst="rect">
            <a:avLst/>
          </a:prstGeom>
          <a:noFill/>
        </p:spPr>
        <p:txBody>
          <a:bodyPr wrap="square" rtlCol="0">
            <a:spAutoFit/>
          </a:bodyPr>
          <a:lstStyle/>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Population-based lung cancer risk models built using ML techniques like random forests and vector boost exist, but they are </a:t>
            </a:r>
            <a:r>
              <a:rPr kumimoji="0" lang="en-GB" b="0" i="0" u="sng" strike="noStrike" kern="1200" cap="none" spc="0" normalizeH="0" baseline="0" noProof="0" dirty="0">
                <a:ln>
                  <a:noFill/>
                </a:ln>
                <a:solidFill>
                  <a:prstClr val="black"/>
                </a:solidFill>
                <a:effectLst/>
                <a:uLnTx/>
                <a:uFillTx/>
                <a:latin typeface="Calibri" panose="020F0502020204030204"/>
                <a:ea typeface="+mn-ea"/>
                <a:cs typeface="+mn-cs"/>
              </a:rPr>
              <a:t>static. </a:t>
            </a:r>
            <a:r>
              <a:rPr kumimoji="0" lang="en-GB" b="0" i="0" strike="noStrike" kern="1200" cap="none" spc="0" normalizeH="0" baseline="0" noProof="0" dirty="0">
                <a:ln>
                  <a:noFill/>
                </a:ln>
                <a:solidFill>
                  <a:prstClr val="black"/>
                </a:solidFill>
                <a:effectLst/>
                <a:uLnTx/>
                <a:uFillTx/>
                <a:latin typeface="Calibri" panose="020F0502020204030204"/>
                <a:ea typeface="+mn-ea"/>
                <a:cs typeface="+mn-cs"/>
              </a:rPr>
              <a:t>They don’t account for temporal relationships in EHR data!</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kumimoji="0" lang="en-GB" b="0" i="0" strike="noStrike" kern="1200" cap="none" spc="0" normalizeH="0" baseline="0" noProof="0" dirty="0">
                <a:ln>
                  <a:noFill/>
                </a:ln>
                <a:solidFill>
                  <a:prstClr val="black"/>
                </a:solidFill>
                <a:effectLst/>
                <a:uLnTx/>
                <a:uFillTx/>
                <a:latin typeface="Calibri" panose="020F0502020204030204"/>
                <a:ea typeface="+mn-ea"/>
                <a:cs typeface="+mn-cs"/>
              </a:rPr>
              <a:t>This </a:t>
            </a:r>
            <a:r>
              <a:rPr kumimoji="0" lang="en-GB" b="0" i="0" strike="noStrike" kern="1200" cap="none" spc="0" normalizeH="0" baseline="0" noProof="0" dirty="0" err="1">
                <a:ln>
                  <a:noFill/>
                </a:ln>
                <a:solidFill>
                  <a:prstClr val="black"/>
                </a:solidFill>
                <a:effectLst/>
                <a:uLnTx/>
                <a:uFillTx/>
                <a:latin typeface="Calibri" panose="020F0502020204030204"/>
                <a:ea typeface="+mn-ea"/>
                <a:cs typeface="+mn-cs"/>
              </a:rPr>
              <a:t>MedAlbert</a:t>
            </a:r>
            <a:r>
              <a:rPr kumimoji="0" lang="en-GB" b="0" i="0" strike="noStrike" kern="1200" cap="none" spc="0" normalizeH="0" baseline="0" noProof="0" dirty="0">
                <a:ln>
                  <a:noFill/>
                </a:ln>
                <a:solidFill>
                  <a:prstClr val="black"/>
                </a:solidFill>
                <a:effectLst/>
                <a:uLnTx/>
                <a:uFillTx/>
                <a:latin typeface="Calibri" panose="020F0502020204030204"/>
                <a:ea typeface="+mn-ea"/>
                <a:cs typeface="+mn-cs"/>
              </a:rPr>
              <a:t> +LRC model is a predictive model for symptomatic patients NOT a population risk model.</a:t>
            </a: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err="1">
                <a:solidFill>
                  <a:prstClr val="black"/>
                </a:solidFill>
              </a:rPr>
              <a:t>MedAlbert</a:t>
            </a:r>
            <a:r>
              <a:rPr lang="en-GB" dirty="0">
                <a:solidFill>
                  <a:prstClr val="black"/>
                </a:solidFill>
              </a:rPr>
              <a:t> +LRC has a PPV of 3.6% and sensitivity of 86.6%. </a:t>
            </a:r>
          </a:p>
          <a:p>
            <a:pPr marL="742950" lvl="1" indent="-285750" defTabSz="457200">
              <a:buFont typeface="Arial" panose="020B0604020202020204" pitchFamily="34" charset="0"/>
              <a:buChar char="•"/>
              <a:defRPr/>
            </a:pPr>
            <a:endParaRPr lang="en-GB" dirty="0">
              <a:solidFill>
                <a:prstClr val="black"/>
              </a:solidFill>
            </a:endParaRPr>
          </a:p>
          <a:p>
            <a:pPr marL="742950" lvl="1" indent="-285750" defTabSz="457200">
              <a:buFont typeface="Arial" panose="020B0604020202020204" pitchFamily="34" charset="0"/>
              <a:buChar char="•"/>
              <a:defRPr/>
            </a:pPr>
            <a:r>
              <a:rPr lang="en-GB" dirty="0" err="1">
                <a:solidFill>
                  <a:prstClr val="black"/>
                </a:solidFill>
              </a:rPr>
              <a:t>QCancer</a:t>
            </a:r>
            <a:r>
              <a:rPr lang="en-GB" dirty="0">
                <a:solidFill>
                  <a:prstClr val="black"/>
                </a:solidFill>
              </a:rPr>
              <a:t> Lung has a PPV of 1.34% at its maximum sensitivity of 77.3%.  </a:t>
            </a:r>
          </a:p>
          <a:p>
            <a:pPr marL="742950" lvl="1" indent="-285750" defTabSz="457200">
              <a:buFont typeface="Arial" panose="020B0604020202020204" pitchFamily="34" charset="0"/>
              <a:buChar char="•"/>
              <a:defRPr/>
            </a:pPr>
            <a:endParaRPr kumimoji="0" lang="en-GB" b="0" i="0"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r>
              <a:rPr kumimoji="0" lang="en-GB" b="1" i="0" strike="noStrike" kern="1200" cap="none" spc="0" normalizeH="0" baseline="0" noProof="0" dirty="0">
                <a:ln>
                  <a:noFill/>
                </a:ln>
                <a:solidFill>
                  <a:prstClr val="black"/>
                </a:solidFill>
                <a:effectLst/>
                <a:uLnTx/>
                <a:uFillTx/>
                <a:latin typeface="Calibri" panose="020F0502020204030204"/>
                <a:ea typeface="+mn-ea"/>
                <a:cs typeface="+mn-cs"/>
              </a:rPr>
              <a:t>Limitations – </a:t>
            </a:r>
          </a:p>
          <a:p>
            <a:pPr marL="742950" lvl="1" indent="-285750" defTabSz="457200">
              <a:buFont typeface="Arial" panose="020B0604020202020204" pitchFamily="34" charset="0"/>
              <a:buChar char="•"/>
              <a:defRPr/>
            </a:pPr>
            <a:endParaRPr lang="en-GB" b="1" dirty="0">
              <a:solidFill>
                <a:prstClr val="black"/>
              </a:solidFill>
              <a:latin typeface="Calibri" panose="020F0502020204030204"/>
            </a:endParaRPr>
          </a:p>
          <a:p>
            <a:pPr marL="1200150" lvl="2" indent="-285750" defTabSz="457200">
              <a:buFont typeface="Arial" panose="020B0604020202020204" pitchFamily="34" charset="0"/>
              <a:buChar char="•"/>
              <a:defRPr/>
            </a:pPr>
            <a:r>
              <a:rPr kumimoji="0" lang="en-GB" i="0" strike="noStrike" kern="1200" cap="none" spc="0" normalizeH="0" baseline="0" noProof="0" dirty="0">
                <a:ln>
                  <a:noFill/>
                </a:ln>
                <a:solidFill>
                  <a:prstClr val="black"/>
                </a:solidFill>
                <a:effectLst/>
                <a:uLnTx/>
                <a:uFillTx/>
                <a:latin typeface="Calibri" panose="020F0502020204030204"/>
                <a:ea typeface="+mn-ea"/>
                <a:cs typeface="+mn-cs"/>
              </a:rPr>
              <a:t>“Static demographic features such as sex” (it’s going to be static for the overwhelming majority of patients?)</a:t>
            </a:r>
          </a:p>
          <a:p>
            <a:pPr marL="1200150" lvl="2" indent="-285750" defTabSz="457200">
              <a:buFont typeface="Arial" panose="020B0604020202020204" pitchFamily="34" charset="0"/>
              <a:buChar char="•"/>
              <a:defRPr/>
            </a:pPr>
            <a:endParaRPr lang="en-GB" dirty="0">
              <a:solidFill>
                <a:prstClr val="black"/>
              </a:solidFill>
              <a:latin typeface="Calibri" panose="020F0502020204030204"/>
            </a:endParaRPr>
          </a:p>
          <a:p>
            <a:pPr marL="1200150" lvl="2" indent="-285750" defTabSz="457200">
              <a:buFont typeface="Arial" panose="020B0604020202020204" pitchFamily="34" charset="0"/>
              <a:buChar char="•"/>
              <a:defRPr/>
            </a:pPr>
            <a:r>
              <a:rPr kumimoji="0" lang="en-GB" i="0" strike="noStrike" kern="1200" cap="none" spc="0" normalizeH="0" baseline="0" noProof="0" dirty="0">
                <a:ln>
                  <a:noFill/>
                </a:ln>
                <a:solidFill>
                  <a:prstClr val="black"/>
                </a:solidFill>
                <a:effectLst/>
                <a:uLnTx/>
                <a:uFillTx/>
                <a:latin typeface="Calibri" panose="020F0502020204030204"/>
                <a:ea typeface="+mn-ea"/>
                <a:cs typeface="+mn-cs"/>
              </a:rPr>
              <a:t>No </a:t>
            </a:r>
            <a:r>
              <a:rPr kumimoji="0" lang="en-GB" i="0" strike="noStrike" kern="1200" cap="none" spc="0" normalizeH="0" baseline="0" noProof="0" dirty="0" err="1">
                <a:ln>
                  <a:noFill/>
                </a:ln>
                <a:solidFill>
                  <a:prstClr val="black"/>
                </a:solidFill>
                <a:effectLst/>
                <a:uLnTx/>
                <a:uFillTx/>
                <a:latin typeface="Calibri" panose="020F0502020204030204"/>
                <a:ea typeface="+mn-ea"/>
                <a:cs typeface="+mn-cs"/>
              </a:rPr>
              <a:t>lab.test</a:t>
            </a:r>
            <a:r>
              <a:rPr kumimoji="0" lang="en-GB" i="0" strike="noStrike" kern="1200" cap="none" spc="0" normalizeH="0" baseline="0" noProof="0" dirty="0">
                <a:ln>
                  <a:noFill/>
                </a:ln>
                <a:solidFill>
                  <a:prstClr val="black"/>
                </a:solidFill>
                <a:effectLst/>
                <a:uLnTx/>
                <a:uFillTx/>
                <a:latin typeface="Calibri" panose="020F0502020204030204"/>
                <a:ea typeface="+mn-ea"/>
                <a:cs typeface="+mn-cs"/>
              </a:rPr>
              <a:t> results to map results to normal/abnormal. </a:t>
            </a:r>
          </a:p>
          <a:p>
            <a:pPr marL="1200150" lvl="2" indent="-285750" defTabSz="457200">
              <a:buFont typeface="Arial" panose="020B0604020202020204" pitchFamily="34" charset="0"/>
              <a:buChar char="•"/>
              <a:defRPr/>
            </a:pPr>
            <a:endParaRPr lang="en-GB" dirty="0">
              <a:solidFill>
                <a:prstClr val="black"/>
              </a:solidFill>
              <a:latin typeface="Calibri" panose="020F0502020204030204"/>
            </a:endParaRPr>
          </a:p>
          <a:p>
            <a:pPr marL="1200150" lvl="2" indent="-285750" defTabSz="457200">
              <a:buFont typeface="Arial" panose="020B0604020202020204" pitchFamily="34" charset="0"/>
              <a:buChar char="•"/>
              <a:defRPr/>
            </a:pPr>
            <a:r>
              <a:rPr kumimoji="0" lang="en-GB" i="0" strike="noStrike" kern="1200" cap="none" spc="0" normalizeH="0" baseline="0" noProof="0" dirty="0">
                <a:ln>
                  <a:noFill/>
                </a:ln>
                <a:solidFill>
                  <a:prstClr val="black"/>
                </a:solidFill>
                <a:effectLst/>
                <a:uLnTx/>
                <a:uFillTx/>
                <a:latin typeface="Calibri" panose="020F0502020204030204"/>
                <a:ea typeface="+mn-ea"/>
                <a:cs typeface="+mn-cs"/>
              </a:rPr>
              <a:t>Time not considered – the care pathways are time insensitive. </a:t>
            </a:r>
          </a:p>
          <a:p>
            <a:pPr marL="1200150" lvl="2" indent="-285750" defTabSz="457200">
              <a:buFont typeface="Arial" panose="020B0604020202020204" pitchFamily="34" charset="0"/>
              <a:buChar char="•"/>
              <a:defRPr/>
            </a:pPr>
            <a:endParaRPr lang="en-GB" dirty="0">
              <a:solidFill>
                <a:prstClr val="black"/>
              </a:solidFill>
              <a:latin typeface="Calibri" panose="020F0502020204030204"/>
            </a:endParaRPr>
          </a:p>
          <a:p>
            <a:pPr marL="1200150" lvl="2" indent="-285750" defTabSz="457200">
              <a:buFont typeface="Arial" panose="020B0604020202020204" pitchFamily="34" charset="0"/>
              <a:buChar char="•"/>
              <a:defRPr/>
            </a:pPr>
            <a:r>
              <a:rPr kumimoji="0" lang="en-GB" i="0" strike="noStrike" kern="1200" cap="none" spc="0" normalizeH="0" baseline="0" noProof="0" dirty="0">
                <a:ln>
                  <a:noFill/>
                </a:ln>
                <a:solidFill>
                  <a:prstClr val="black"/>
                </a:solidFill>
                <a:effectLst/>
                <a:uLnTx/>
                <a:uFillTx/>
                <a:latin typeface="Calibri" panose="020F0502020204030204"/>
                <a:ea typeface="+mn-ea"/>
                <a:cs typeface="+mn-cs"/>
              </a:rPr>
              <a:t>Primary care EHR data is quite sparse </a:t>
            </a:r>
            <a:r>
              <a:rPr lang="en-GB" dirty="0">
                <a:solidFill>
                  <a:prstClr val="black"/>
                </a:solidFill>
                <a:latin typeface="Calibri" panose="020F0502020204030204"/>
              </a:rPr>
              <a:t>regarding symptom codes and won’t contain results of secondary care investigations.  (Could they not do secondary care linkage?) </a:t>
            </a:r>
          </a:p>
          <a:p>
            <a:pPr marL="1200150" lvl="2"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r>
              <a:rPr lang="en-GB" dirty="0" err="1">
                <a:solidFill>
                  <a:prstClr val="black"/>
                </a:solidFill>
                <a:latin typeface="Calibri" panose="020F0502020204030204"/>
              </a:rPr>
              <a:t>MedAlbert</a:t>
            </a:r>
            <a:r>
              <a:rPr lang="en-GB" dirty="0">
                <a:solidFill>
                  <a:prstClr val="black"/>
                </a:solidFill>
                <a:latin typeface="Calibri" panose="020F0502020204030204"/>
              </a:rPr>
              <a:t> ≠ an LLM. However,  a pre-trained LLM could be an alternative to a pre-trained ALBERT model!</a:t>
            </a:r>
          </a:p>
          <a:p>
            <a:pPr marL="742950" lvl="1" indent="-285750" defTabSz="457200">
              <a:buFont typeface="Arial" panose="020B0604020202020204" pitchFamily="34" charset="0"/>
              <a:buChar char="•"/>
              <a:defRPr/>
            </a:pPr>
            <a:endParaRPr kumimoji="0" lang="en-GB" i="0"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lang="en-GB" dirty="0">
              <a:solidFill>
                <a:prstClr val="black"/>
              </a:solidFill>
              <a:latin typeface="Calibri" panose="020F0502020204030204"/>
            </a:endParaRPr>
          </a:p>
          <a:p>
            <a:pPr marL="742950" lvl="1" indent="-285750" defTabSz="457200">
              <a:buFont typeface="Arial" panose="020B0604020202020204" pitchFamily="34" charset="0"/>
              <a:buChar char="•"/>
              <a:defRPr/>
            </a:pPr>
            <a:endParaRPr kumimoji="0" lang="en-GB" b="0" i="0" strike="noStrike" kern="1200" cap="none" spc="0" normalizeH="0" baseline="0" noProof="0" dirty="0">
              <a:ln>
                <a:noFill/>
              </a:ln>
              <a:solidFill>
                <a:prstClr val="black"/>
              </a:solidFill>
              <a:effectLst/>
              <a:uLnTx/>
              <a:uFillTx/>
              <a:latin typeface="Calibri" panose="020F0502020204030204"/>
              <a:ea typeface="+mn-ea"/>
              <a:cs typeface="+mn-cs"/>
            </a:endParaRPr>
          </a:p>
          <a:p>
            <a:pPr marL="742950" lvl="1" indent="-285750" defTabSz="457200">
              <a:buFont typeface="Arial" panose="020B0604020202020204" pitchFamily="34" charset="0"/>
              <a:buChar char="•"/>
              <a:defRPr/>
            </a:pPr>
            <a:endParaRPr kumimoji="0" lang="en-GB"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504634969"/>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0.8"/>
</p:tagLst>
</file>

<file path=ppt/tags/tag2.xml><?xml version="1.0" encoding="utf-8"?>
<p:tagLst xmlns:a="http://schemas.openxmlformats.org/drawingml/2006/main" xmlns:r="http://schemas.openxmlformats.org/officeDocument/2006/relationships" xmlns:p="http://schemas.openxmlformats.org/presentationml/2006/main">
  <p:tag name="TIMING" val="|0.1|2.6|0.5|71.1"/>
</p:tagLst>
</file>

<file path=ppt/tags/tag3.xml><?xml version="1.0" encoding="utf-8"?>
<p:tagLst xmlns:a="http://schemas.openxmlformats.org/drawingml/2006/main" xmlns:r="http://schemas.openxmlformats.org/officeDocument/2006/relationships" xmlns:p="http://schemas.openxmlformats.org/presentationml/2006/main">
  <p:tag name="TIMING" val="|0.1|2.6|0.5|71.1"/>
</p:tagLst>
</file>

<file path=ppt/tags/tag4.xml><?xml version="1.0" encoding="utf-8"?>
<p:tagLst xmlns:a="http://schemas.openxmlformats.org/drawingml/2006/main" xmlns:r="http://schemas.openxmlformats.org/officeDocument/2006/relationships" xmlns:p="http://schemas.openxmlformats.org/presentationml/2006/main">
  <p:tag name="TIMING" val="|0.1|2.6|0.5|71.1"/>
</p:tagLst>
</file>

<file path=ppt/tags/tag5.xml><?xml version="1.0" encoding="utf-8"?>
<p:tagLst xmlns:a="http://schemas.openxmlformats.org/drawingml/2006/main" xmlns:r="http://schemas.openxmlformats.org/officeDocument/2006/relationships" xmlns:p="http://schemas.openxmlformats.org/presentationml/2006/main">
  <p:tag name="TIMING" val="|0.1|2.6|0.5|71.1"/>
</p:tagLst>
</file>

<file path=ppt/tags/tag6.xml><?xml version="1.0" encoding="utf-8"?>
<p:tagLst xmlns:a="http://schemas.openxmlformats.org/drawingml/2006/main" xmlns:r="http://schemas.openxmlformats.org/officeDocument/2006/relationships" xmlns:p="http://schemas.openxmlformats.org/presentationml/2006/main">
  <p:tag name="TIMING" val="|0.1|2.6|0.5|71.1"/>
</p:tagLst>
</file>

<file path=ppt/tags/tag7.xml><?xml version="1.0" encoding="utf-8"?>
<p:tagLst xmlns:a="http://schemas.openxmlformats.org/drawingml/2006/main" xmlns:r="http://schemas.openxmlformats.org/officeDocument/2006/relationships" xmlns:p="http://schemas.openxmlformats.org/presentationml/2006/main">
  <p:tag name="TIMING" val="|0.1|2.6|0.5|71.1"/>
</p:tagLst>
</file>

<file path=ppt/tags/tag8.xml><?xml version="1.0" encoding="utf-8"?>
<p:tagLst xmlns:a="http://schemas.openxmlformats.org/drawingml/2006/main" xmlns:r="http://schemas.openxmlformats.org/officeDocument/2006/relationships" xmlns:p="http://schemas.openxmlformats.org/presentationml/2006/main">
  <p:tag name="TIMING" val="|0.1|2.6|0.5|71.1"/>
</p:tagLst>
</file>

<file path=ppt/tags/tag9.xml><?xml version="1.0" encoding="utf-8"?>
<p:tagLst xmlns:a="http://schemas.openxmlformats.org/drawingml/2006/main" xmlns:r="http://schemas.openxmlformats.org/officeDocument/2006/relationships" xmlns:p="http://schemas.openxmlformats.org/presentationml/2006/main">
  <p:tag name="TIMING" val="|0.1|2.6|0.5|71.1"/>
</p:tagLst>
</file>

<file path=ppt/tags/tag10.xml><?xml version="1.0" encoding="utf-8"?>
<p:tagLst xmlns:a="http://schemas.openxmlformats.org/drawingml/2006/main" xmlns:r="http://schemas.openxmlformats.org/officeDocument/2006/relationships" xmlns:p="http://schemas.openxmlformats.org/presentationml/2006/main">
  <p:tag name="TIMING" val="|0.1|2.6|0.5|71.1"/>
</p:tagLst>
</file>

<file path=ppt/tags/tag11.xml><?xml version="1.0" encoding="utf-8"?>
<p:tagLst xmlns:a="http://schemas.openxmlformats.org/drawingml/2006/main" xmlns:r="http://schemas.openxmlformats.org/officeDocument/2006/relationships" xmlns:p="http://schemas.openxmlformats.org/presentationml/2006/main">
  <p:tag name="TIMING" val="|0.1|2.6|0.5|71.1"/>
</p:tagLst>
</file>

<file path=ppt/tags/tag12.xml><?xml version="1.0" encoding="utf-8"?>
<p:tagLst xmlns:a="http://schemas.openxmlformats.org/drawingml/2006/main" xmlns:r="http://schemas.openxmlformats.org/officeDocument/2006/relationships" xmlns:p="http://schemas.openxmlformats.org/presentationml/2006/main">
  <p:tag name="TIMING" val="|0.1|2.6|0.5|71.1"/>
</p:tagLst>
</file>

<file path=ppt/tags/tag13.xml><?xml version="1.0" encoding="utf-8"?>
<p:tagLst xmlns:a="http://schemas.openxmlformats.org/drawingml/2006/main" xmlns:r="http://schemas.openxmlformats.org/officeDocument/2006/relationships" xmlns:p="http://schemas.openxmlformats.org/presentationml/2006/main">
  <p:tag name="TIMING" val="|0.1|2.6|0.5|71.1"/>
</p:tagLst>
</file>

<file path=ppt/tags/tag14.xml><?xml version="1.0" encoding="utf-8"?>
<p:tagLst xmlns:a="http://schemas.openxmlformats.org/drawingml/2006/main" xmlns:r="http://schemas.openxmlformats.org/officeDocument/2006/relationships" xmlns:p="http://schemas.openxmlformats.org/presentationml/2006/main">
  <p:tag name="TIMING" val="|0.1|2.6|0.5|71.1"/>
</p:tagLst>
</file>

<file path=ppt/tags/tag15.xml><?xml version="1.0" encoding="utf-8"?>
<p:tagLst xmlns:a="http://schemas.openxmlformats.org/drawingml/2006/main" xmlns:r="http://schemas.openxmlformats.org/officeDocument/2006/relationships" xmlns:p="http://schemas.openxmlformats.org/presentationml/2006/main">
  <p:tag name="TIMING" val="|0.1|2.6|0.5|71.1"/>
</p:tagLst>
</file>

<file path=ppt/tags/tag16.xml><?xml version="1.0" encoding="utf-8"?>
<p:tagLst xmlns:a="http://schemas.openxmlformats.org/drawingml/2006/main" xmlns:r="http://schemas.openxmlformats.org/officeDocument/2006/relationships" xmlns:p="http://schemas.openxmlformats.org/presentationml/2006/main">
  <p:tag name="TIMING" val="|0.1|2.6|0.5|71.1"/>
</p:tagLst>
</file>

<file path=ppt/tags/tag17.xml><?xml version="1.0" encoding="utf-8"?>
<p:tagLst xmlns:a="http://schemas.openxmlformats.org/drawingml/2006/main" xmlns:r="http://schemas.openxmlformats.org/officeDocument/2006/relationships" xmlns:p="http://schemas.openxmlformats.org/presentationml/2006/main">
  <p:tag name="TIMING" val="|0.1|2.6|0.5|71.1"/>
</p:tagLst>
</file>

<file path=ppt/tags/tag18.xml><?xml version="1.0" encoding="utf-8"?>
<p:tagLst xmlns:a="http://schemas.openxmlformats.org/drawingml/2006/main" xmlns:r="http://schemas.openxmlformats.org/officeDocument/2006/relationships" xmlns:p="http://schemas.openxmlformats.org/presentationml/2006/main">
  <p:tag name="TIMING" val="|0.1|2.6|0.5|71.1"/>
</p:tagLst>
</file>

<file path=ppt/tags/tag19.xml><?xml version="1.0" encoding="utf-8"?>
<p:tagLst xmlns:a="http://schemas.openxmlformats.org/drawingml/2006/main" xmlns:r="http://schemas.openxmlformats.org/officeDocument/2006/relationships" xmlns:p="http://schemas.openxmlformats.org/presentationml/2006/main">
  <p:tag name="TIMING" val="|0.1|2.6|0.5|71.1"/>
</p:tagLst>
</file>

<file path=ppt/tags/tag20.xml><?xml version="1.0" encoding="utf-8"?>
<p:tagLst xmlns:a="http://schemas.openxmlformats.org/drawingml/2006/main" xmlns:r="http://schemas.openxmlformats.org/officeDocument/2006/relationships" xmlns:p="http://schemas.openxmlformats.org/presentationml/2006/main">
  <p:tag name="TIMING" val="|0.1|2.6|0.5|71.1"/>
</p:tagLst>
</file>

<file path=ppt/tags/tag21.xml><?xml version="1.0" encoding="utf-8"?>
<p:tagLst xmlns:a="http://schemas.openxmlformats.org/drawingml/2006/main" xmlns:r="http://schemas.openxmlformats.org/officeDocument/2006/relationships" xmlns:p="http://schemas.openxmlformats.org/presentationml/2006/main">
  <p:tag name="TIMING" val="|0.1|2.6|0.5|71.1"/>
</p:tagLst>
</file>

<file path=ppt/tags/tag22.xml><?xml version="1.0" encoding="utf-8"?>
<p:tagLst xmlns:a="http://schemas.openxmlformats.org/drawingml/2006/main" xmlns:r="http://schemas.openxmlformats.org/officeDocument/2006/relationships" xmlns:p="http://schemas.openxmlformats.org/presentationml/2006/main">
  <p:tag name="TIMING" val="|0.1|2.6|0.5|71.1"/>
</p:tagLst>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1893</TotalTime>
  <Words>4220</Words>
  <Application>Microsoft Office PowerPoint</Application>
  <PresentationFormat>Widescreen</PresentationFormat>
  <Paragraphs>546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Calibri Light</vt:lpstr>
      <vt:lpstr>Wingdings</vt:lpstr>
      <vt:lpstr>Retrospect</vt:lpstr>
      <vt:lpstr>A brief introduction to Prediction Modelling &amp; a Past WSIC Prediction Model – Transformer deep learning to diagnosis suspected lung cancer</vt:lpstr>
      <vt:lpstr>PowerPoint Presentation</vt:lpstr>
      <vt:lpstr>PowerPoint Presentation</vt:lpstr>
      <vt:lpstr>PowerPoint Presentation</vt:lpstr>
      <vt:lpstr>Survival Analysis – Cox-Regression Modelling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Melrose, George A</dc:creator>
  <cp:lastModifiedBy>Melrose, George A</cp:lastModifiedBy>
  <cp:revision>32</cp:revision>
  <dcterms:created xsi:type="dcterms:W3CDTF">2025-08-15T17:54:52Z</dcterms:created>
  <dcterms:modified xsi:type="dcterms:W3CDTF">2025-10-07T15:12:10Z</dcterms:modified>
</cp:coreProperties>
</file>